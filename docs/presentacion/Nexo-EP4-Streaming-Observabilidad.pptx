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612ce4ff1c432b" /><Relationship Type="http://schemas.openxmlformats.org/officeDocument/2006/relationships/extended-properties" Target="/docProps/app.xml" Id="R634f8cdda04847c8" /><Relationship Type="http://schemas.openxmlformats.org/officeDocument/2006/relationships/officeDocument" Target="/ppt/presentation.xml" Id="Rced968ae330243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25b1621260419a"/>
  </p:sldMasterIdLst>
  <p:notesMasterIdLst>
    <p:notesMasterId xmlns:r="http://schemas.openxmlformats.org/officeDocument/2006/relationships" r:id="Rb78bb857d4b248c7"/>
  </p:notesMasterIdLst>
  <p:sldIdLst>
    <p:sldId xmlns:r="http://schemas.openxmlformats.org/officeDocument/2006/relationships" id="256" r:id="R2976435c96bd4d81"/>
    <p:sldId xmlns:r="http://schemas.openxmlformats.org/officeDocument/2006/relationships" id="257" r:id="Re85e350eccbd4cbb"/>
    <p:sldId xmlns:r="http://schemas.openxmlformats.org/officeDocument/2006/relationships" id="258" r:id="Rf98a4171cfe344d1"/>
    <p:sldId xmlns:r="http://schemas.openxmlformats.org/officeDocument/2006/relationships" id="259" r:id="R8b4ba32543d544a8"/>
    <p:sldId xmlns:r="http://schemas.openxmlformats.org/officeDocument/2006/relationships" id="260" r:id="R504c3b4b824042cc"/>
    <p:sldId xmlns:r="http://schemas.openxmlformats.org/officeDocument/2006/relationships" id="261" r:id="R75da63f8da224129"/>
    <p:sldId xmlns:r="http://schemas.openxmlformats.org/officeDocument/2006/relationships" id="262" r:id="Re9958ab837fb4f16"/>
    <p:sldId xmlns:r="http://schemas.openxmlformats.org/officeDocument/2006/relationships" id="263" r:id="R78b7d1dce756488c"/>
    <p:sldId xmlns:r="http://schemas.openxmlformats.org/officeDocument/2006/relationships" id="264" r:id="R8fb5370a6a6448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8e580a07aa4a5e" /><Relationship Type="http://schemas.openxmlformats.org/officeDocument/2006/relationships/slideMaster" Target="/ppt/slideMasters/slideMaster1.xml" Id="Rac25b1621260419a" /><Relationship Type="http://schemas.openxmlformats.org/officeDocument/2006/relationships/notesMaster" Target="/ppt/notesMasters/notesMaster1.xml" Id="Rb78bb857d4b248c7" /><Relationship Type="http://schemas.openxmlformats.org/officeDocument/2006/relationships/presProps" Target="/ppt/presProps.xml" Id="Rc38b05f5e0e841b3" /><Relationship Type="http://schemas.openxmlformats.org/officeDocument/2006/relationships/tableStyles" Target="/ppt/tableStyles.xml" Id="R55f4c0c2ae374510" /><Relationship Type="http://schemas.openxmlformats.org/officeDocument/2006/relationships/slide" Target="/ppt/slides/slide1.xml" Id="R2976435c96bd4d81" /><Relationship Type="http://schemas.openxmlformats.org/officeDocument/2006/relationships/slide" Target="/ppt/slides/slide2.xml" Id="Re85e350eccbd4cbb" /><Relationship Type="http://schemas.openxmlformats.org/officeDocument/2006/relationships/slide" Target="/ppt/slides/slide3.xml" Id="Rf98a4171cfe344d1" /><Relationship Type="http://schemas.openxmlformats.org/officeDocument/2006/relationships/slide" Target="/ppt/slides/slide4.xml" Id="R8b4ba32543d544a8" /><Relationship Type="http://schemas.openxmlformats.org/officeDocument/2006/relationships/slide" Target="/ppt/slides/slide5.xml" Id="R504c3b4b824042cc" /><Relationship Type="http://schemas.openxmlformats.org/officeDocument/2006/relationships/slide" Target="/ppt/slides/slide6.xml" Id="R75da63f8da224129" /><Relationship Type="http://schemas.openxmlformats.org/officeDocument/2006/relationships/slide" Target="/ppt/slides/slide7.xml" Id="Re9958ab837fb4f16" /><Relationship Type="http://schemas.openxmlformats.org/officeDocument/2006/relationships/slide" Target="/ppt/slides/slide8.xml" Id="R78b7d1dce756488c" /><Relationship Type="http://schemas.openxmlformats.org/officeDocument/2006/relationships/slide" Target="/ppt/slides/slide9.xml" Id="R8fb5370a6a64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eb67926634b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8b8b21da347be" /><Relationship Type="http://schemas.openxmlformats.org/officeDocument/2006/relationships/notesMaster" Target="/ppt/notesMasters/notesMaster1.xml" Id="R267850ccfa7341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a7cc7347d84aa2" /><Relationship Type="http://schemas.openxmlformats.org/officeDocument/2006/relationships/notesMaster" Target="/ppt/notesMasters/notesMaster1.xml" Id="R962ff5c7d9c64d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ad5d187ed447a4" /><Relationship Type="http://schemas.openxmlformats.org/officeDocument/2006/relationships/notesMaster" Target="/ppt/notesMasters/notesMaster1.xml" Id="R726fc89aa2e443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15f8bfe42b4256" /><Relationship Type="http://schemas.openxmlformats.org/officeDocument/2006/relationships/notesMaster" Target="/ppt/notesMasters/notesMaster1.xml" Id="Rcab06ff583f6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9c5ffc20c4820" /><Relationship Type="http://schemas.openxmlformats.org/officeDocument/2006/relationships/notesMaster" Target="/ppt/notesMasters/notesMaster1.xml" Id="R009c2a78354a4c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6967b31b624a2a" /><Relationship Type="http://schemas.openxmlformats.org/officeDocument/2006/relationships/notesMaster" Target="/ppt/notesMasters/notesMaster1.xml" Id="R99558aa5ab8841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8f8f1619d94b99" /><Relationship Type="http://schemas.openxmlformats.org/officeDocument/2006/relationships/notesMaster" Target="/ppt/notesMasters/notesMaster1.xml" Id="Rfc419a36ec6348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01b7f63f714894" /><Relationship Type="http://schemas.openxmlformats.org/officeDocument/2006/relationships/notesMaster" Target="/ppt/notesMasters/notesMaster1.xml" Id="Re906b51c13524f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38d13dade74d40" /><Relationship Type="http://schemas.openxmlformats.org/officeDocument/2006/relationships/notesMaster" Target="/ppt/notesMasters/notesMaster1.xml" Id="Rd1b037bbed67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30 segundos. Presentar Nexo como una comunidad universitaria para colaborar y comunicarse.</a:t>
            </a:r>
          </a:p>
          <a:p xmlns:a="http://schemas.openxmlformats.org/drawingml/2006/main">
            <a:r>
              <a:t>La exposición explica cómo se desacopla y observa el flujo de eventos sin confundir la mensajería de trabajo con el streaming analítico.</a:t>
            </a:r>
          </a:p>
          <a:p xmlns:a="http://schemas.openxmlformats.org/drawingml/2006/main">
            <a:r>
              <a:t>Fuentes: README.md; docs/observability-stack.md; EP4_DSY1107_Estudiante_presentación.pdf (rúbrica entregada por el usuario).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40 segundos. Esta captura procede de docs/images/nexo-messages.png. Señalar el canal general y el área de conversación.</a:t>
            </a:r>
          </a:p>
          <a:p xmlns:a="http://schemas.openxmlformats.org/drawingml/2006/main">
            <a:r>
              <a:t>Nexo también ofrece llamadas de voz/video en vivo; el medio en tiempo real no se guarda como grabación en PostgreSQL según la revisión técnica.</a:t>
            </a:r>
          </a:p>
          <a:p xmlns:a="http://schemas.openxmlformats.org/drawingml/2006/main">
            <a:r>
              <a:t>Fuentes: README.md; docs/privacidad-y-ley-21719.md; docs/images/README.md.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60 segundos. La fila superior es el camino síncrono del usuario. La fila inferior describe el procesamiento asíncrono y su telemetría.</a:t>
            </a:r>
          </a:p>
          <a:p xmlns:a="http://schemas.openxmlformats.org/drawingml/2006/main">
            <a:r>
              <a:t>RabbitMQ entrega tareas de dominio; el puente emite identificador y metadatos técnicos al topic Kafka, no el cuerpo del mensaje. Prometheus scrapea RabbitMQ, Kafka Exporter y Node Exporter de forma independiente; Grafana presenta esas series.</a:t>
            </a:r>
          </a:p>
          <a:p xmlns:a="http://schemas.openxmlformats.org/drawingml/2006/main">
            <a:r>
              <a:t>El dibujo resume la arquitectura documentada y no implica que Kafka tenga alta disponibilidad: el clúster visible dispone de un broker y replication factor 1.</a:t>
            </a:r>
          </a:p>
          <a:p xmlns:a="http://schemas.openxmlformats.org/drawingml/2006/main">
            <a:r>
              <a:t>Fuentes: README.md; docs/cloud-evidence.md; docs/observability-stack.md; docs/privacidad-y-ley-21719.md.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55 segundos. Leer la captura real guardada en docs/screenshots/observability/rabbitmq-current.png. Las siete filas incluyen tres colas de negocio, tres DLQ y el puente Kafka.</a:t>
            </a:r>
          </a:p>
          <a:p xmlns:a="http://schemas.openxmlformats.org/drawingml/2006/main">
            <a:r>
              <a:t>En el patrón principal hay una cola para avisos de mensaje, una para auditoría y una para actividad; cada cola principal declara su dead-letter exchange y routing key.</a:t>
            </a:r>
          </a:p>
          <a:p xmlns:a="http://schemas.openxmlformats.org/drawingml/2006/main">
            <a:r>
              <a:t>El consumidor valida UUID, confirma con ACK después de la transacción; para fallos transitorios reintenta y para payload inválido o error final hace reject/NACK sin requeue, lo que permite encaminamiento a DLQ.</a:t>
            </a:r>
          </a:p>
          <a:p xmlns:a="http://schemas.openxmlformats.org/drawingml/2006/main">
            <a:r>
              <a:t>Los ceros son una instantánea de colas vacías, no una prueba de actividad constante. La salud del clúster se verificó con dos nodos activos.</a:t>
            </a:r>
          </a:p>
          <a:p xmlns:a="http://schemas.openxmlformats.org/drawingml/2006/main">
            <a:r>
              <a:t>Fuentes: EP4_DSY1107_Estudiante_presentación.pdf; docs/screenshots/observability/rabbitmq-current.png; event-support/src/main/java/com/nexo/events/RabbitTopology.java; event-support/src/main/java/com/nexo/events/ReliableConsumer.java; docs/cloud-evidence.md.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55 segundos. Esta es una transcripción de los criterios y ponderaciones indicados en el encargo EP4 entregado por el usuario; los pesos suman 100%.</a:t>
            </a:r>
          </a:p>
          <a:p xmlns:a="http://schemas.openxmlformats.org/drawingml/2006/main">
            <a:r>
              <a:t>Evidencia de implementación: RabbitTopology centraliza nombres e intercambios/bindings; componentes de configuración viven en event-support; consumidores ReliableConsumer y listeners por dominio; RabbitAdminController/RabbitAdminService exponen mantenimiento y validación.</a:t>
            </a:r>
          </a:p>
          <a:p xmlns:a="http://schemas.openxmlformats.org/drawingml/2006/main">
            <a:r>
              <a:t>La rúbrica evalúa el resultado demostrado; no se afirma una nota garantizada. Demostrar los endpoints, el despliegue, el clúster de dos nodos, los casos ACK/DLQ y Docker Compose.</a:t>
            </a:r>
          </a:p>
          <a:p xmlns:a="http://schemas.openxmlformats.org/drawingml/2006/main">
            <a:r>
              <a:t>Fuentes: EP4_DSY1107_Estudiante_presentación.pdf; event-support/src/main/java/com/nexo/events/RabbitTopology.java; event-support/src/main/java/com/nexo/events/ReliableConsumer.java; rabbit-admin/src/main/java/com/nexo/admin/RabbitAdminController.java; rabbit-admin/src/main/java/com/nexo/admin/RabbitAdminService.java.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45 segundos. La pantalla de Kafbat muestra el topic de Nexo, 3 particiones, replication factor 1 y 15 mensajes al instante capturado.</a:t>
            </a:r>
          </a:p>
          <a:p xmlns:a="http://schemas.openxmlformats.org/drawingml/2006/main">
            <a:r>
              <a:t>La bridge RabbitMQ → Kafka transporta UUID y metadatos de evento; el grupo nexo-analytics consume el topic. Entrega al menos una vez; podría producir duplicados tras cortes.</a:t>
            </a:r>
          </a:p>
          <a:p xmlns:a="http://schemas.openxmlformats.org/drawingml/2006/main">
            <a:r>
              <a:t>Kafka complementa las colas RabbitMQ, no reemplaza las rutas de trabajo ni las DLQ requeridas. RF1 no protege frente a caída del broker.</a:t>
            </a:r>
          </a:p>
          <a:p xmlns:a="http://schemas.openxmlformats.org/drawingml/2006/main">
            <a:r>
              <a:t>Fuentes: Guia_Teorica_EA3_Clase_I_Streaming_Kafka.pdf (documento entregado por el usuario); docs/screenshots/observability/kafka-current.png; docs/observability-stack.md; docs/cloud-evidence.md.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45 segundos. Prometheus recolecta los exporters y Grafana dibuja sus series. Los paneles muestran cero pendientes, cero lag, 3 particiones y un broker.</a:t>
            </a:r>
          </a:p>
          <a:p xmlns:a="http://schemas.openxmlformats.org/drawingml/2006/main">
            <a:r>
              <a:t>La corrección de métricas usa RabbitMQ /metrics/detailed. La diferencia de conteo aproximado (~18 en Grafana y 15 en Kafbat) sigue sin causa confirmada; la captura exacta del broker es fuente autoritativa para cantidad del topic.</a:t>
            </a:r>
          </a:p>
          <a:p xmlns:a="http://schemas.openxmlformats.org/drawingml/2006/main">
            <a:r>
              <a:t>Un indicador verde expresa que está disponible frente al umbral configurado; no implica HA. La configuración desplegada reportó los cinco scrape targets UP.</a:t>
            </a:r>
          </a:p>
          <a:p xmlns:a="http://schemas.openxmlformats.org/drawingml/2006/main">
            <a:r>
              <a:t>Fuentes: docs/screenshots/observability/grafana-current.png; docs/observability-stack.md; docs/cloud-evidence.md.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60 segundos. Explicar claramente que el hash corresponde a contraseñas de cuentas locales; los perfiles, imágenes y mensajes no se almacenan hasheados. RDS tiene cifrado de almacenamiento, que es una protección distinta.</a:t>
            </a:r>
          </a:p>
          <a:p xmlns:a="http://schemas.openxmlformats.org/drawingml/2006/main">
            <a:r>
              <a:t>Para Microsoft se almacena el identificador de Entra y datos básicos del perfil, no la contraseña del usuario. La integración Kafka minimiza el payload pero el UUID puede ser vinculable a la persona a través de la base de datos.</a:t>
            </a:r>
          </a:p>
          <a:p xmlns:a="http://schemas.openxmlformats.org/drawingml/2006/main">
            <a:r>
              <a:t>La Ley 21.719 entra en vigor el 1 de diciembre de 2026 conforme a BCN. Esta revisión técnica identifica pendientes y no declara cumplimiento.</a:t>
            </a:r>
          </a:p>
          <a:p xmlns:a="http://schemas.openxmlformats.org/drawingml/2006/main">
            <a:r>
              <a:t>Fuentes: docs/privacidad-y-ley-21719.md; docs/cloud-evidence.md; backend/src/main/java/com/nexo/auth/config/SecurityConfig.java (BCrypt strength 12); BCN LeyChile https://www.bcn.cl/leychile/Navegar/imprimir?idNorma=1209272.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50 segundos. Use esta secuencia como guion y abra el sitio Nexo, API Gateway, RabbitMQ y Kafbat/Grafana según tiempo.</a:t>
            </a:r>
          </a:p>
          <a:p xmlns:a="http://schemas.openxmlformats.org/drawingml/2006/main">
            <a:r>
              <a:t>La matriz EP4 también espera mostrar Docker Compose, API REST administrativa y validación de configuración. Tener listos comandos curl/CloudShell seguros y payload sintético. No use datos reales en la prueba.</a:t>
            </a:r>
          </a:p>
          <a:p xmlns:a="http://schemas.openxmlformats.org/drawingml/2006/main">
            <a:r>
              <a:t>No afirmar 7/7 garantizado. La rúbrica es evaluada por docente y parte de su peso depende de explicación y demostración verificable.</a:t>
            </a:r>
          </a:p>
          <a:p xmlns:a="http://schemas.openxmlformats.org/drawingml/2006/main">
            <a:r>
              <a:t>Fuentes: EP4_DSY1107_Estudiante_presentación.pdf; docs/cloud-evidence.md; README.md; docs/observability-stack.md; docs/privacidad-y-ley-21719.md.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8fd87aab440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70822fa3949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4a63d499c4a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bfb7f006746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374bc676345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70d541f0448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A35BCC-FB76-4B10-95CE-3C298A50D5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4105B5-4934-408F-A794-8D25E05D59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8351A7-9827-40AD-8F44-7430958C5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E1AB7-2A5F-4AE5-B233-0B5C83AD5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2D9F90-E2B7-4343-8E94-41001537A7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63C0A4-F120-41F4-B5F3-2161D7537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41A774-6D7F-4F02-B5CF-35AB91DFFD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B2D011-4C10-4BCA-BED2-078D490406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20FF95-8A8A-46BF-AE91-523200B06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315570-E5C6-40AF-89E5-A0D56653D9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33760d3f646d5" /><Relationship Type="http://schemas.openxmlformats.org/officeDocument/2006/relationships/slideLayout" Target="/ppt/slideLayouts/slideLayout1.xml" Id="R45f7e03f8b104be9" /><Relationship Type="http://schemas.openxmlformats.org/officeDocument/2006/relationships/slideLayout" Target="/ppt/slideLayouts/slideLayout2.xml" Id="Rea5406dd2878474f" /><Relationship Type="http://schemas.openxmlformats.org/officeDocument/2006/relationships/slideLayout" Target="/ppt/slideLayouts/slideLayout3.xml" Id="R841ab17c1a154a49" /><Relationship Type="http://schemas.openxmlformats.org/officeDocument/2006/relationships/slideLayout" Target="/ppt/slideLayouts/slideLayout4.xml" Id="R8f3ee80016f04289" /><Relationship Type="http://schemas.openxmlformats.org/officeDocument/2006/relationships/slideLayout" Target="/ppt/slideLayouts/slideLayout5.xml" Id="R5a2dcf36d9054f67" /><Relationship Type="http://schemas.openxmlformats.org/officeDocument/2006/relationships/slideLayout" Target="/ppt/slideLayouts/slideLayout6.xml" Id="R72c7d73ca0324b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f7e03f8b104be9"/>
    <p:sldLayoutId xmlns:r="http://schemas.openxmlformats.org/officeDocument/2006/relationships" id="2147483650" r:id="Rea5406dd2878474f"/>
    <p:sldLayoutId xmlns:r="http://schemas.openxmlformats.org/officeDocument/2006/relationships" id="2147483651" r:id="R841ab17c1a154a49"/>
    <p:sldLayoutId xmlns:r="http://schemas.openxmlformats.org/officeDocument/2006/relationships" id="2147483652" r:id="R8f3ee80016f04289"/>
    <p:sldLayoutId xmlns:r="http://schemas.openxmlformats.org/officeDocument/2006/relationships" id="2147483653" r:id="R5a2dcf36d9054f67"/>
    <p:sldLayoutId xmlns:r="http://schemas.openxmlformats.org/officeDocument/2006/relationships" id="2147483654" r:id="R72c7d73ca0324b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4b10ab27547a8" /><Relationship Type="http://schemas.openxmlformats.org/officeDocument/2006/relationships/notesSlide" Target="/ppt/notesSlides/notesSlide1.xml" Id="R6fe1ecf79b894f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5cc14621648f6" /><Relationship Type="http://schemas.openxmlformats.org/officeDocument/2006/relationships/image" Target="/ppt/media/image.png" Id="R40cc63723cd248e6" /><Relationship Type="http://schemas.openxmlformats.org/officeDocument/2006/relationships/notesSlide" Target="/ppt/notesSlides/notesSlide2.xml" Id="Rf3f042a8112e43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83b09644d4318" /><Relationship Type="http://schemas.openxmlformats.org/officeDocument/2006/relationships/notesSlide" Target="/ppt/notesSlides/notesSlide3.xml" Id="R952ad98e478044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2ea6a928f4ae5" /><Relationship Type="http://schemas.openxmlformats.org/officeDocument/2006/relationships/image" Target="/ppt/media/image2.png" Id="Rc18759ae699a4603" /><Relationship Type="http://schemas.openxmlformats.org/officeDocument/2006/relationships/notesSlide" Target="/ppt/notesSlides/notesSlide4.xml" Id="R10fe48a6792a4f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3fe6b9d254bad" /><Relationship Type="http://schemas.openxmlformats.org/officeDocument/2006/relationships/notesSlide" Target="/ppt/notesSlides/notesSlide5.xml" Id="R1588dae8cfda4a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662974c9b4192" /><Relationship Type="http://schemas.openxmlformats.org/officeDocument/2006/relationships/image" Target="/ppt/media/image3.png" Id="R20764b57cf4a4e2a" /><Relationship Type="http://schemas.openxmlformats.org/officeDocument/2006/relationships/notesSlide" Target="/ppt/notesSlides/notesSlide6.xml" Id="R9a0c434897ed45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7eac88aadf42d1" /><Relationship Type="http://schemas.openxmlformats.org/officeDocument/2006/relationships/image" Target="/ppt/media/image4.png" Id="R2ae71bc232d348c4" /><Relationship Type="http://schemas.openxmlformats.org/officeDocument/2006/relationships/notesSlide" Target="/ppt/notesSlides/notesSlide7.xml" Id="R2158fc321acb4d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12f5c22ee48ff" /><Relationship Type="http://schemas.openxmlformats.org/officeDocument/2006/relationships/notesSlide" Target="/ppt/notesSlides/notesSlide8.xml" Id="Rfa3bd0be2bf4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a61e3664d4e2b" /><Relationship Type="http://schemas.openxmlformats.org/officeDocument/2006/relationships/notesSlide" Target="/ppt/notesSlides/notesSlide9.xml" Id="R5995eb2ad1864d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F0F4C-FA9D-40AE-8E94-84AD6F17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E7D48-E7BC-4289-87A4-C1CB9F4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NEXO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05E4F-1BA6-41C1-8987-68CEC758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38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Mensajería confiable</a:t>
            </a:r>
          </a:p>
          <a:p xmlns:a="http://schemas.openxmlformats.org/drawingml/2006/main">
            <a:pPr>
              <a:defRPr sz="360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para una comunidad viva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280DF-470D-4BDB-B965-3DE3141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Arquitectura, eventos y observabilidad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CC699-DA07-4F8D-A49E-3785219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6D6B0"/>
                </a:solidFill>
                <a:latin typeface="Arial"/>
                <a:ea typeface="Arial"/>
                <a:cs typeface="Arial"/>
              </a:rPr>
              <a:t>RabbitMQ · Kafka · Prometheus · Grafana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4A16D-CDC7-4ADF-B4F9-A498E33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Evaluación EP4 · DSY1107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B3C87-1F0B-49D3-ABD8-5ECF7E20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7839A"/>
                </a:solidFill>
                <a:latin typeface="Arial"/>
                <a:ea typeface="Arial"/>
                <a:cs typeface="Arial"/>
              </a:rPr>
              <a:t>15 octubre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4A1BE-3169-4B1E-AF6F-E816C2F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2877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98206-F998-4DA8-A3DD-1A58E11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1095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46B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711EF-CE0C-4662-92FC-18100DFF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9552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882C7-A04D-4A38-868A-CB5218C9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90875"/>
            <a:ext cx="1095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9B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CD159-EC9E-445B-9CE9-55BB0AF0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9565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MQ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8A2C1-939A-40BC-9367-A50B37F5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1095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56D6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05F0E-9DF1-4CB4-9300-CF9BCCB0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9577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6D6B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A6DA7-217E-4ED5-B3B2-CAA976E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eventos → trabajo → métricas</a:t>
            </a:r>
          </a:p>
        </p:txBody>
      </p:sp>
    </p:spTree>
    <p:extLst>
      <p:ext uri="{BB962C8B-B14F-4D97-AF65-F5344CB8AC3E}">
        <p14:creationId xmlns:p14="http://schemas.microsoft.com/office/powerpoint/2010/main" val="1617483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172A1-6562-455C-9FBB-1C558983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LA EXPERIENCIA QUE SE PROTEGE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17466-B0B8-47B4-9221-F62AFC42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Nexo como producto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55E35-ED0B-455A-8B61-47902606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6CBAA-E29F-4782-ACD9-679F44D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C2619-1696-441A-AAF6-3574A60C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NEXO · DSY1107 · EP4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9B8EE-9789-4E49-A57B-771F71FD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93B3C-49C3-47E0-B79C-B9FC9021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Un espacio para conversar,</a:t>
            </a:r>
          </a:p>
          <a:p xmlns:a="http://schemas.openxmlformats.org/drawingml/2006/main">
            <a:pPr>
              <a:defRPr sz="240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organizarse y participar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5F550-3E1B-4620-A1E6-0079424A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Nexo conecta a estudiantes mediante comunidades, mensajería directa, perfiles y conversaciones en vivo.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37E99-645B-416C-B794-BE673778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EF28D-410A-43C1-B8A4-892C2DE8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Mensajes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92283-234A-4E12-8E15-74D2A27C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43375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Conversación directa y canales de comunidad.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C1940-6890-4141-89E3-40B667D1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26974-5D67-43BB-87C0-94C7C01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529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Trabajo asíncrono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50DE0-EE72-4241-BC7A-1F053458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38725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Avisos y actividad continúan aunque el usuario no esté conectado.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00289-500E-4A19-BC20-57990D53A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c63723cd248e6"/>
          <a:stretch xmlns:a="http://schemas.openxmlformats.org/drawingml/2006/main"/>
        </p:blipFill>
        <p:spPr>
          <a:xfrm xmlns:a="http://schemas.openxmlformats.org/drawingml/2006/main">
            <a:off x="5000625" y="1803797"/>
            <a:ext cx="6572250" cy="41076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35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5CC761-5EFB-4373-8836-3B842985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DEL ACCESO AL DATO OBSERVABLE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0BA37-305A-44F3-8371-FC9083B3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Arquitectura de Nexo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CEC05-EFF7-4AAB-A9E0-D7240D56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D1475-5A1A-4B6C-A39A-00A6771D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54255-3E9D-4D8C-8760-8FA6CBED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NEXO · DSY1107 · EP4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CD74D-F0DD-4216-B427-A40AA4F8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A141A-D92A-43B1-ADF8-7A7301DE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El frontend entra por un gateway protegido; el backend persiste en PostgreSQL y publica trabajo asíncrono.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CF86E-DD85-4312-B91C-43BA6473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46B6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4A8AC-82B7-4B1C-B293-1151A91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PERSONA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4A72E-ECBD-4134-A9D3-CDACE6E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Navegador / móvil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3048D-C520-4FAA-8437-85485516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764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9B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03381-DE85-4223-A2F1-F841E90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BCF12-A50A-4342-823C-AF49B77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669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SPA en HTTPS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6473E-9CC6-490C-8297-AA5F1A3F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FFC7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A2B79-05AF-4663-AD15-D61917C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766"/>
                </a:solidFill>
                <a:latin typeface="Arial"/>
                <a:ea typeface="Arial"/>
                <a:cs typeface="Arial"/>
              </a:rPr>
              <a:t>API 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EA0BE-770B-4C3D-92FB-1D1F28F5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669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Rutas y validación JWT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5F9DC-11A6-44A0-87B1-FD0F06E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56D6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A1C04-42F0-4E98-9AB2-53438E27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6D6B0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D3E7F-A7D0-4C16-A74C-27509111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669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Spring Boot ·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0111E-9F30-455B-BFE0-9B93A1BF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46B6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0477C-5667-4CE2-AB28-D9AFFBCA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21819-9946-42B8-9D42-38AEA0B0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669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RDS privado y cifrado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C518D-5831-4D92-851E-87D890C2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0E99B-7FFD-4409-B497-84B341DF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241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F0F4B5-4E01-4860-8392-658090F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0B09C-2E99-442C-AC5C-0F2F0A14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6A5B36-CE3C-4989-BE77-DB306843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EB8CA"/>
                </a:solidFill>
                <a:latin typeface="Arial"/>
                <a:ea typeface="Arial"/>
                <a:cs typeface="Arial"/>
              </a:rPr>
              <a:t>Outbox → publicación de eventos → procesos por dominio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FC4A1-533F-47E4-B43A-F880F4C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9B6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F0313F-DA5C-4C21-BAA5-71801535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38575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86799-AB8F-40AF-AA84-C51AE6C4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529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topic / direct · colas y DLQ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D1367-9255-4D78-BADB-6F8E000D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46B6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3C5B30-8CE0-417A-BAAB-8D8B3E46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38575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CONSUMIDORES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E019BE-ECF2-4DBA-B950-3096524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529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avisos · auditoría · actividad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AE9873-A6EC-4784-8654-331C0088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6237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56D6B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CA5B75-27C6-4B04-8752-C497CD27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38575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6D6B0"/>
                </a:solidFill>
                <a:latin typeface="Arial"/>
                <a:ea typeface="Arial"/>
                <a:cs typeface="Arial"/>
              </a:rPr>
              <a:t>PUENTE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2A6925-7E8A-40D5-88F8-2B7817C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529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metadatos confirmados a Kafka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3F51A2-9B57-440A-8042-E993E51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FFC7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E032EE-F9F6-4BE3-B922-BC9AAF37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38575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766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8AFA0A-30BC-46FC-A982-38A3631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529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nexo.messages.v1 · retención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140779-EB6D-4593-A8F0-A809D488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3579B2-4E6D-4F22-8B0C-584DBAF4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100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9BE6A1-027D-434D-8F93-86B2A438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00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2F03E4-84EF-464C-9452-505F9364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81FC40-F3EB-4540-94AD-FB390B9C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OBSERVABILIDAD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123B2A-89E3-4FD5-A45A-C12839BE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29225"/>
            <a:ext cx="9248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Prometheus scrapea RabbitMQ, Kafka Exporter y host  →  Grafana presenta colas, particiones, lag y disponibilidad.</a:t>
            </a:r>
          </a:p>
        </p:txBody>
      </p:sp>
    </p:spTree>
    <p:extLst>
      <p:ext uri="{BB962C8B-B14F-4D97-AF65-F5344CB8AC3E}">
        <p14:creationId xmlns:p14="http://schemas.microsoft.com/office/powerpoint/2010/main" val="292345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48DBC-5718-4696-A5B7-88387800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MENSAJERÍA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9F229-F787-47AF-B7C4-AA368648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RabbitMQ: entrega confiable por dominio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73CE7-C2DF-4E2F-A10D-CC1F4CF5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46BE7-4158-48D3-AB51-189162DF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CCFFE-5738-4F1C-9E59-E30ED030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NEXO · DSY1107 · EP4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BF21E-ECCA-4F41-8A8D-CCF4BBF3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147D-2316-4A77-B14B-C1337F2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Intercambios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5716C-19A0-4E3B-84D5-DA730989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038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• `nexo.events.topic` enruta eventos por patrón</a:t>
            </a:r>
          </a:p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• `nexo.tasks.direct` enruta tareas por clave</a:t>
            </a:r>
          </a:p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• `nexo.failures.direct` recibe fallos definitivos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54417-4254-439F-9DF2-2FBBD2EA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Colas durables + DLQ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1DC86-D176-476B-B1CD-BF07CAB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038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Avisos, auditoría y actividad tienen consumidores y su cola `.failed` para mensajes rechazados.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D8A6C-BE27-4366-9DD6-297BA09F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6D6B0"/>
                </a:solidFill>
                <a:latin typeface="Arial"/>
                <a:ea typeface="Arial"/>
                <a:cs typeface="Arial"/>
              </a:rPr>
              <a:t>2 nodos activos · 7 colas observadas</a:t>
            </a:r>
          </a:p>
          <a:p xmlns:a="http://schemas.openxmlformats.org/drawingml/2006/main">
            <a:pPr>
              <a:defRPr sz="135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6D6B0"/>
                </a:solidFill>
                <a:latin typeface="Arial"/>
                <a:ea typeface="Arial"/>
                <a:cs typeface="Arial"/>
              </a:rPr>
              <a:t>Ready 0 · Unacked 0 en la captura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BDAFA-0A59-4D1E-BAC6-14DDF1B81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759ae699a4603"/>
          <a:stretch xmlns:a="http://schemas.openxmlformats.org/drawingml/2006/main"/>
        </p:blipFill>
        <p:spPr>
          <a:xfrm xmlns:a="http://schemas.openxmlformats.org/drawingml/2006/main">
            <a:off x="4895850" y="1940674"/>
            <a:ext cx="6686550" cy="347195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07B18-B11F-4294-9BAC-A1218E6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743575"/>
            <a:ext cx="668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839A"/>
                </a:solidFill>
                <a:latin typeface="Arial"/>
                <a:ea typeface="Arial"/>
                <a:cs typeface="Arial"/>
              </a:rPr>
              <a:t>Ready = esperando consumidor · Unacked = entregado, aún sin ACK</a:t>
            </a:r>
          </a:p>
        </p:txBody>
      </p:sp>
    </p:spTree>
    <p:extLst>
      <p:ext uri="{BB962C8B-B14F-4D97-AF65-F5344CB8AC3E}">
        <p14:creationId xmlns:p14="http://schemas.microsoft.com/office/powerpoint/2010/main" val="1815170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927BB7-952B-43AF-B17C-442A41AE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COBERTURA TÉCNICA VERIFICABLE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20EFD-0379-409C-B289-4A20E077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Implementación frente a la rúbrica EP4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9FDE4-483D-4B3C-A2BF-5C3350A7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B0944-C31A-4D91-B8A0-BA4ACB9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B8DC6-F322-4947-A358-6985A6FD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NEXO · DSY1107 · EP4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B8474-1868-4ECA-A2CA-C7692D64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9B48A-D552-4389-9573-011600C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Criterio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B4646-942E-469B-82DE-469C08A7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4763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Peso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350D5-8BDA-4577-9EC3-A46F9DC6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Nombres centralizados de colas y bindings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F574B-A803-453B-B6BA-12629F3F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14525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EF963-55E8-4E99-B9C5-C9299963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14525"/>
            <a:ext cx="26860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6D020-8080-4638-AF96-4F1F592B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83832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12%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09239-6C4A-4486-8BDC-BFFEAD16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Beans Queue / Exchange / Binding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09429-F4A8-4269-AAA6-6F1C5107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7DF4C-7B36-4381-A63B-68328637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2909888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B5F74-5F7B-48DE-BA1B-07D48D1B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622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F117E-F634-404E-A230-E5EA8CF0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Configuración separada de lógica de negocio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73F61-F354-40F3-9BA9-8361A75C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62275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79B05-034B-4943-A4DB-9D58DD5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62275"/>
            <a:ext cx="22383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D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784C6-1EF9-4867-BA05-A24B01A8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860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2C4D1-4F6D-4140-BA18-6017738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Listeners organizados por dominio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A6611-BD92-493D-89CC-3FD472D5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86150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2BCD2-7EE9-4550-833E-60773648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86150"/>
            <a:ext cx="335756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C76BF-1C9B-4879-8AFB-E9C35F56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099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0B67F-29D0-4FB1-849C-3AD3BF6A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ACK, reintentos, NACK y DLQ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EED412-55B3-40AF-A67F-4A7CB147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10025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E67AB-D77F-4553-B1B9-E655031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10025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5F5F7F-974B-466E-B007-203AC9B1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3382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0B1F5-1020-48F0-B81E-7836D83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Rutas REST administrativas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2EDD6-194D-4EE6-902B-CCE6E8DF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33900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A1CCA5-3D47-4782-AD80-D12122B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33900"/>
            <a:ext cx="2909888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5FBE14-AC44-43B3-A717-8C98B651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577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86A4BA-3557-4C69-A743-0565B5D7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Servicio administra crear / actualizar / borrar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E68B36-BF9D-46B7-939D-5CFA493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57775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9C498D-C590-468C-81B3-04F6EE92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57775"/>
            <a:ext cx="22383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C1B8DB-6248-4442-9500-365AEEAF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815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F49A9D-C069-4556-8827-197EBC1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Validación de nombres y configuración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BEA538-972F-4AFB-814C-6AC7AEC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81650"/>
            <a:ext cx="4476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A08C61-795E-4038-B8E7-479BC97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81650"/>
            <a:ext cx="156686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D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A2ECE9-3321-4A8F-8801-EB84A815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5054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7%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22D969-7FA8-4232-86C3-DCF199A4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B2732F-BD6F-4F9D-9086-95F5EB2D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D6B0"/>
                </a:solidFill>
                <a:latin typeface="Arial"/>
                <a:ea typeface="Arial"/>
                <a:cs typeface="Arial"/>
              </a:rPr>
              <a:t>100% del peso listado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63BC70-83B6-488F-8A76-C74F44EF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162675"/>
            <a:ext cx="6677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La cobertura de código no sustituye la demostración en vivo.</a:t>
            </a:r>
          </a:p>
        </p:txBody>
      </p:sp>
    </p:spTree>
    <p:extLst>
      <p:ext uri="{BB962C8B-B14F-4D97-AF65-F5344CB8AC3E}">
        <p14:creationId xmlns:p14="http://schemas.microsoft.com/office/powerpoint/2010/main" val="1083516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4C9D8-6ED9-4298-890C-D5531F5F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STREAMING Y CONSUMO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BD337-65B2-4D26-B3B2-D773921E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Kafka: historial de eventos para análisis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AF177-FFF2-4C40-B97F-BBCD3307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BCC92-C5E7-4508-8543-63CD65A1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1194E-8940-4795-AF5D-2AB15632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NEXO · DSY1107 · EP4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3AA9C-09D8-4CBA-BE12-F9E3095D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4B691-CE6F-46D5-A7F9-62EC1D5D7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64b57cf4a4e2a"/>
          <a:stretch xmlns:a="http://schemas.openxmlformats.org/drawingml/2006/main"/>
        </p:blipFill>
        <p:spPr>
          <a:xfrm xmlns:a="http://schemas.openxmlformats.org/drawingml/2006/main">
            <a:off x="609600" y="2309612"/>
            <a:ext cx="7239000" cy="266740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87D55-0F03-4307-9577-9942750B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C766"/>
                </a:solidFill>
                <a:latin typeface="Arial"/>
                <a:ea typeface="Arial"/>
                <a:cs typeface="Arial"/>
              </a:rPr>
              <a:t>Un propósito distinto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2BC29-F209-4215-9541-9BDF4096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62175"/>
            <a:ext cx="331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Kafka conserva un flujo de eventos para que consumidores analíticos lean offsets y puedan retomar desde una posición.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15F91-8256-4798-B911-F3C38D46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9D5DF-9584-4718-BFAB-40F1171F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71850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801CC-A1B0-427B-8BFB-801CECF9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57600"/>
            <a:ext cx="3133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`nexo.messages.v1`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E0D2F-E2EA-4936-9BE7-60A51B6C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D6B16-1B21-4EE6-9CE0-F0FBBCD2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005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Particiones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F78D5-B0CE-42B4-8341-0F2DCB9E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86275"/>
            <a:ext cx="3133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3 para distribuir el flujo.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10046-DDA3-4FF6-80EC-C489209B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33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03A37-E48B-44A3-A2DB-86D62CD1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029200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Réplicas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6D9A7-5EE4-4C88-984B-F8BB87F5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314950"/>
            <a:ext cx="3133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RF 1: nodo disponible, sin HA.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2447B-670B-43E0-A699-C1D4AC4D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Kafbat informa 15 registros en esta captura.</a:t>
            </a:r>
          </a:p>
        </p:txBody>
      </p:sp>
    </p:spTree>
    <p:extLst>
      <p:ext uri="{BB962C8B-B14F-4D97-AF65-F5344CB8AC3E}">
        <p14:creationId xmlns:p14="http://schemas.microsoft.com/office/powerpoint/2010/main" val="960237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B8345-EC01-4A34-9314-3AEC998D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PROMETHEUS RECOLECTA · GRAFANA MUESTRA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EBDF4-EBFB-4B4D-88C0-01C5F98A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Grafana: telemetría que hace visible el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DA1A8-D9E3-48A6-9C64-52C35ABB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5962A-AC7A-4569-8414-A1F8FC7A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1635E-D770-47EC-9253-2111903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NEXO · DSY1107 · EP4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759BA-5232-4E2F-8BED-50010DD7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DB2FF-07E3-41EA-927B-C62A97FB42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71bc232d348c4"/>
          <a:stretch xmlns:a="http://schemas.openxmlformats.org/drawingml/2006/main"/>
        </p:blipFill>
        <p:spPr>
          <a:xfrm xmlns:a="http://schemas.openxmlformats.org/drawingml/2006/main">
            <a:off x="609600" y="1647830"/>
            <a:ext cx="7620000" cy="398144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7D06C-289D-4CDF-877B-FC09D8D3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Qué permite vigilar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202E8-588D-4D18-8A02-E1539A17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71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0483B-C5A8-4A3D-BDFA-B7CA1C7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66950"/>
            <a:ext cx="2676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E96B2-1A22-442F-AB4D-687A6AD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52700"/>
            <a:ext cx="2676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pendientes por cola y entregas sin 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F90F9-2D70-47AB-8DF3-FB72E60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2E87D-C5A0-42A7-98EA-F6B8D094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62300"/>
            <a:ext cx="2676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194AB-662D-4E1F-AC32-34F80D1B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48050"/>
            <a:ext cx="2676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eventos/minuto, particiones y consumer lag.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A85D8-C526-4D33-8A93-F157AB0F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62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D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28D8B-A1A8-421E-8D56-BAEBE834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57650"/>
            <a:ext cx="2676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7AAF3-4247-40B5-A4B7-B8B2AB8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43400"/>
            <a:ext cx="2676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targets y broker visible para el operador.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17F9C-F230-481F-A3D5-A098820D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01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AC8D4-2DF5-4876-810A-5F976DB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816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EB8CA"/>
                </a:solidFill>
                <a:latin typeface="Arial"/>
                <a:ea typeface="Arial"/>
                <a:cs typeface="Arial"/>
              </a:rPr>
              <a:t>0 pendientes y lag 0</a:t>
            </a:r>
          </a:p>
          <a:p xmlns:a="http://schemas.openxmlformats.org/drawingml/2006/main">
            <a:pPr>
              <a:defRPr sz="1350" b="1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EB8CA"/>
                </a:solidFill>
                <a:latin typeface="Arial"/>
                <a:ea typeface="Arial"/>
                <a:cs typeface="Arial"/>
              </a:rPr>
              <a:t>son la lectura de ese momento.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E0F16-6518-40AA-841C-CF6F7E2A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766"/>
                </a:solidFill>
                <a:latin typeface="Arial"/>
                <a:ea typeface="Arial"/>
                <a:cs typeface="Arial"/>
              </a:rPr>
              <a:t>Advertencia: Grafana estima ~18 registros; Kafbat muestra 15. Usar Kafbat como conteo del topic.</a:t>
            </a:r>
          </a:p>
        </p:txBody>
      </p:sp>
    </p:spTree>
    <p:extLst>
      <p:ext uri="{BB962C8B-B14F-4D97-AF65-F5344CB8AC3E}">
        <p14:creationId xmlns:p14="http://schemas.microsoft.com/office/powerpoint/2010/main" val="672974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D8FDB9-E398-426A-9692-754BAAB1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PROTECCIÓN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CA744-FECD-4F64-9944-1BD33D53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Privacidad: qué se cifra y qué no se debe confundir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D6814-2E40-4B62-B98B-BD75EE5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03263-BC1C-4DBC-BC4C-5BC54424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D9C82-3ADC-4AB8-BB27-738C8A0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NEXO · DSY1107 · EP4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4F2F7-2B54-4636-AD94-8E383471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1E1D4-AC46-4278-B5E7-FF8E919F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6D6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6D6B0"/>
                </a:solidFill>
                <a:latin typeface="Arial"/>
                <a:ea typeface="Arial"/>
                <a:cs typeface="Arial"/>
              </a:rPr>
              <a:t>Controles técnicos presentes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BB91E-5F6C-464A-B94D-D01D48E8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3A98B-A635-4A03-AF6B-732B7AA2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050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Autenticación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4FD79-C163-42A8-A425-8DDC173E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90775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Microsoft OIDC + JWT; tokens en sessionStorage, no en PostgreSQL.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FAEFB-E262-4D23-A142-F097C37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0F440-F3C9-4501-BD21-6735AD46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67050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Contraseñas locales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7FF56-9EAE-4503-90BF-6BA3E46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52800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BCrypt es hash unidireccional; no permite recuperar el texto original.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5FD4C-04C8-4F44-A34A-B844FC89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5D092-6D86-4E0E-81B2-4B46C1A0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290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Datos en AWS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A3805-1AFF-4177-93A2-1816FBE9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14825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RDS cifrado en reposo y privado según evidencia del laboratorio.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0AC7D-6933-4AB4-9C5C-A8A6D532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D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5E205-24DD-492E-A05E-B1B61E01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91100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Eventos analíticos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90883-2820-4AD7-9561-73618E0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76850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UUID + metadatos; sin texto del mensaje, correo ni token.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F4D93-89DA-4302-8945-CAC37849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952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A4A3-C94E-4FCA-A938-03E8EA26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811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6D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6D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6D7D"/>
                </a:solidFill>
                <a:latin typeface="Arial"/>
                <a:ea typeface="Arial"/>
                <a:cs typeface="Arial"/>
              </a:rPr>
              <a:t>No todo está hasheado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46DE0-DBB1-4987-83B0-5D235C4A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914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Perfiles, correos, fotos y mensajes se guardan para que Nexo funcione. El cifrado de RDS protege el volumen; no vuelve anónimos esos datos.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CEAAF-6DC1-46A4-8E30-671B19C7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766"/>
                </a:solidFill>
                <a:latin typeface="Arial"/>
                <a:ea typeface="Arial"/>
                <a:cs typeface="Arial"/>
              </a:rPr>
              <a:t>Ley 21.719 · vigencia general: 01-12-2026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2A96A-980B-47F6-898F-83E56E2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4914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Preparación pendiente: aviso público, plazos de retención, derechos del titular, encargados/transferencias y proceso integral de borrado.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40BEB-2A0D-4B48-B002-CFEB08EF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38775"/>
            <a:ext cx="49149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201B2D"/>
          </a:solidFill>
          <a:ln xmlns:a="http://schemas.openxmlformats.org/drawingml/2006/main" w="9525">
            <a:solidFill>
              <a:srgbClr val="9B6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6B13C-A158-48E8-AE01-1D423DCF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05450"/>
            <a:ext cx="4591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Esto es inventario técnico; no certifica cumplimiento legal.</a:t>
            </a:r>
          </a:p>
        </p:txBody>
      </p:sp>
    </p:spTree>
    <p:extLst>
      <p:ext uri="{BB962C8B-B14F-4D97-AF65-F5344CB8AC3E}">
        <p14:creationId xmlns:p14="http://schemas.microsoft.com/office/powerpoint/2010/main" val="5503967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4B77A-0DA4-4007-AFA8-C239C310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CIERRE PARA UNA EXPOSICIÓN SÓLIDA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BABC-8346-48F4-9B20-EC0ADB0F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Demostración y límites que conviene declarar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DFB1B-3907-4A11-BAD0-B0A4DED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18B27-BADB-4796-8A6C-430B04D5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F1D95-9643-437F-83D3-DB3A18E1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NEXO · DSY1107 · EP4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DAD64-285B-431A-8751-75A4EF8B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78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839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D00F2-0F9B-4A02-BDC9-7A929B3F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B6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B6BFF"/>
                </a:solidFill>
                <a:latin typeface="Arial"/>
                <a:ea typeface="Arial"/>
                <a:cs typeface="Arial"/>
              </a:rPr>
              <a:t>Secuencia sugerida · 5–10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B83F5-9CE3-49BD-88D9-E2245C3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9836E-95D6-4D87-B50B-10C3EB7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Entrar a Nexo y abrir una comunidad o conversación.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E92C5-ACFD-4585-A3F6-426DC1F2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EC245-E67B-447D-B9F0-AF1099CF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Mostrar gateway: JWT válido permite ruta privada; sin JWT devuelve 401.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65ADA-F4B9-4F43-B224-45D38599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08817-F70F-4277-B789-7B1DC9BA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Mostrar RabbitMQ: 2 nodos, exchanges, colas principales y DLQ.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D2547-761F-428B-806D-F3BC80CD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568F1-C8D8-4FF0-BCA1-96B271AF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Provocar un evento sintético y confirmar ACK / puente / tópico / consumidor.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35378-8CCC-46CE-B51F-4D668AA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6B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6B6E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97287-39B5-414D-9BBD-ABEF48B8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5FA"/>
                </a:solidFill>
                <a:latin typeface="Arial"/>
                <a:ea typeface="Arial"/>
                <a:cs typeface="Arial"/>
              </a:rPr>
              <a:t>Abrir Grafana y explicar lag, pendientes y objetivos Prometheus 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AF8BF-A506-4C63-9CB6-0D3F872F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19250"/>
            <a:ext cx="3829050" cy="39052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101523"/>
          </a:solidFill>
          <a:ln xmlns:a="http://schemas.openxmlformats.org/drawingml/2006/main" w="9525">
            <a:solidFill>
              <a:srgbClr val="2934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98CD1-6A9A-462F-B264-54F3EB89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C76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C766"/>
                </a:solidFill>
                <a:latin typeface="Arial"/>
                <a:ea typeface="Arial"/>
                <a:cs typeface="Arial"/>
              </a:rPr>
              <a:t>Transparencia técnica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73F97-FE09-4977-B50B-861110B9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95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18802-86EA-4E0B-B696-926AE4C5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907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E89AD-A176-4767-AA80-13DB6F88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7652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Un broker y RF1; el despliegue no es HA.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854E0-D8BA-4FD5-9DCA-0AA336E2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5E654-348F-4A73-9FC3-49455A74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861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Conteo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DE500-E043-44C9-BCBB-E2076BB1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5718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15 en Kafbat; ~18 es estimación de Grafana.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67AE1-3F6F-4FA1-B3B7-CA06FC54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94B174-13DE-4A38-BB7E-54D52B1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1814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F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5FA"/>
                </a:solidFill>
                <a:latin typeface="Arial"/>
                <a:ea typeface="Arial"/>
                <a:cs typeface="Arial"/>
              </a:rPr>
              <a:t>Privacidad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848E9-1C4E-4EAD-BC51-5A0F5242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6722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Políticas y borrado integral requieren trabajo.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925F1-84D7-451B-8940-79187AA4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AEB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EB8CA"/>
                </a:solidFill>
                <a:latin typeface="Arial"/>
                <a:ea typeface="Arial"/>
                <a:cs typeface="Arial"/>
              </a:rPr>
              <a:t>La rúbrica valora lo que se demuestra; esta PPT no garantiza una nota.</a:t>
            </a:r>
          </a:p>
        </p:txBody>
      </p:sp>
    </p:spTree>
    <p:extLst>
      <p:ext uri="{BB962C8B-B14F-4D97-AF65-F5344CB8AC3E}">
        <p14:creationId xmlns:p14="http://schemas.microsoft.com/office/powerpoint/2010/main" val="2029516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2026-10-16T00:56:04.6280000Z</dcterms:created>
  <dcterms:modified xsi:type="dcterms:W3CDTF">2026-10-16T00:56:04.6280000Z</dcterms:modified>
</coreProperties>
</file>