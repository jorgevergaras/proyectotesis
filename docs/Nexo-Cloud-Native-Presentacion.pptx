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b08d051db14918" /><Relationship Type="http://schemas.openxmlformats.org/officeDocument/2006/relationships/extended-properties" Target="/docProps/app.xml" Id="R3f1863f15d7b40fd" /><Relationship Type="http://schemas.openxmlformats.org/officeDocument/2006/relationships/officeDocument" Target="/ppt/presentation.xml" Id="R0ec0fd0a5ffe45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884d1e3b874167"/>
  </p:sldMasterIdLst>
  <p:notesMasterIdLst>
    <p:notesMasterId xmlns:r="http://schemas.openxmlformats.org/officeDocument/2006/relationships" r:id="Rc764dcd76d4540e2"/>
  </p:notesMasterIdLst>
  <p:sldIdLst>
    <p:sldId xmlns:r="http://schemas.openxmlformats.org/officeDocument/2006/relationships" id="256" r:id="R3e0c4f8069e84b1e"/>
    <p:sldId xmlns:r="http://schemas.openxmlformats.org/officeDocument/2006/relationships" id="257" r:id="R727452bdcb774008"/>
    <p:sldId xmlns:r="http://schemas.openxmlformats.org/officeDocument/2006/relationships" id="258" r:id="R4c1a1855333d4c17"/>
    <p:sldId xmlns:r="http://schemas.openxmlformats.org/officeDocument/2006/relationships" id="259" r:id="R13e4929bb9c848d9"/>
    <p:sldId xmlns:r="http://schemas.openxmlformats.org/officeDocument/2006/relationships" id="260" r:id="R4ade37bbaa8b49d7"/>
    <p:sldId xmlns:r="http://schemas.openxmlformats.org/officeDocument/2006/relationships" id="261" r:id="R93274e91d24e441c"/>
    <p:sldId xmlns:r="http://schemas.openxmlformats.org/officeDocument/2006/relationships" id="262" r:id="R025f00da7e194706"/>
    <p:sldId xmlns:r="http://schemas.openxmlformats.org/officeDocument/2006/relationships" id="263" r:id="R8173f5ae394147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9b02cdd45a4a55" /><Relationship Type="http://schemas.openxmlformats.org/officeDocument/2006/relationships/slideMaster" Target="/ppt/slideMasters/slideMaster1.xml" Id="R9e884d1e3b874167" /><Relationship Type="http://schemas.openxmlformats.org/officeDocument/2006/relationships/notesMaster" Target="/ppt/notesMasters/notesMaster1.xml" Id="Rc764dcd76d4540e2" /><Relationship Type="http://schemas.openxmlformats.org/officeDocument/2006/relationships/presProps" Target="/ppt/presProps.xml" Id="R902b095c9a054955" /><Relationship Type="http://schemas.openxmlformats.org/officeDocument/2006/relationships/tableStyles" Target="/ppt/tableStyles.xml" Id="Rba97931544604a5a" /><Relationship Type="http://schemas.openxmlformats.org/officeDocument/2006/relationships/slide" Target="/ppt/slides/slide1.xml" Id="R3e0c4f8069e84b1e" /><Relationship Type="http://schemas.openxmlformats.org/officeDocument/2006/relationships/slide" Target="/ppt/slides/slide2.xml" Id="R727452bdcb774008" /><Relationship Type="http://schemas.openxmlformats.org/officeDocument/2006/relationships/slide" Target="/ppt/slides/slide3.xml" Id="R4c1a1855333d4c17" /><Relationship Type="http://schemas.openxmlformats.org/officeDocument/2006/relationships/slide" Target="/ppt/slides/slide4.xml" Id="R13e4929bb9c848d9" /><Relationship Type="http://schemas.openxmlformats.org/officeDocument/2006/relationships/slide" Target="/ppt/slides/slide5.xml" Id="R4ade37bbaa8b49d7" /><Relationship Type="http://schemas.openxmlformats.org/officeDocument/2006/relationships/slide" Target="/ppt/slides/slide6.xml" Id="R93274e91d24e441c" /><Relationship Type="http://schemas.openxmlformats.org/officeDocument/2006/relationships/slide" Target="/ppt/slides/slide7.xml" Id="R025f00da7e194706" /><Relationship Type="http://schemas.openxmlformats.org/officeDocument/2006/relationships/slide" Target="/ppt/slides/slide8.xml" Id="R8173f5ae394147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891e77386c4b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2675bac0dd458b" /><Relationship Type="http://schemas.openxmlformats.org/officeDocument/2006/relationships/notesMaster" Target="/ppt/notesMasters/notesMaster1.xml" Id="R89ba25add14d47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a1899fc68a4c90" /><Relationship Type="http://schemas.openxmlformats.org/officeDocument/2006/relationships/notesMaster" Target="/ppt/notesMasters/notesMaster1.xml" Id="R0918c136562b44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10627b67544d8a" /><Relationship Type="http://schemas.openxmlformats.org/officeDocument/2006/relationships/notesMaster" Target="/ppt/notesMasters/notesMaster1.xml" Id="R40628766856646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924928877d43c7" /><Relationship Type="http://schemas.openxmlformats.org/officeDocument/2006/relationships/notesMaster" Target="/ppt/notesMasters/notesMaster1.xml" Id="R86051dab37834e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4d1002f7dc4228" /><Relationship Type="http://schemas.openxmlformats.org/officeDocument/2006/relationships/notesMaster" Target="/ppt/notesMasters/notesMaster1.xml" Id="R9d5eac34cdbf4a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ef54c616024069" /><Relationship Type="http://schemas.openxmlformats.org/officeDocument/2006/relationships/notesMaster" Target="/ppt/notesMasters/notesMaster1.xml" Id="Rd4399b3f106249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590396f4384d56" /><Relationship Type="http://schemas.openxmlformats.org/officeDocument/2006/relationships/notesMaster" Target="/ppt/notesMasters/notesMaster1.xml" Id="Rc1d7ba751f5342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c0ba59a94442fd" /><Relationship Type="http://schemas.openxmlformats.org/officeDocument/2006/relationships/notesMaster" Target="/ppt/notesMasters/notesMaster1.xml" Id="R3c78a7eaa2ea41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7e6a00914044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c54189730f4091" /><Relationship Type="http://schemas.openxmlformats.org/officeDocument/2006/relationships/slideLayout" Target="/ppt/slideLayouts/slideLayout1.xml" Id="R951c2af5310c4a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1c2af5310c4a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f5618fba24949" /><Relationship Type="http://schemas.openxmlformats.org/officeDocument/2006/relationships/notesSlide" Target="/ppt/notesSlides/notesSlide1.xml" Id="Rbcfc6b714ffc41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90a0629c74940" /><Relationship Type="http://schemas.openxmlformats.org/officeDocument/2006/relationships/image" Target="/ppt/media/image.jpeg" Id="R47e6cee6b909425b" /><Relationship Type="http://schemas.openxmlformats.org/officeDocument/2006/relationships/notesSlide" Target="/ppt/notesSlides/notesSlide2.xml" Id="R42f52543531a4f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10cf8ee3fa470a" /><Relationship Type="http://schemas.openxmlformats.org/officeDocument/2006/relationships/notesSlide" Target="/ppt/notesSlides/notesSlide3.xml" Id="Rc299c891a5a642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f795ce9e645c3" /><Relationship Type="http://schemas.openxmlformats.org/officeDocument/2006/relationships/notesSlide" Target="/ppt/notesSlides/notesSlide4.xml" Id="R037f30d4f9c743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478ee89cb4f16" /><Relationship Type="http://schemas.openxmlformats.org/officeDocument/2006/relationships/notesSlide" Target="/ppt/notesSlides/notesSlide5.xml" Id="Rc02e64d5274e4c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dc008237b4393" /><Relationship Type="http://schemas.openxmlformats.org/officeDocument/2006/relationships/notesSlide" Target="/ppt/notesSlides/notesSlide6.xml" Id="R70d9f0442b2642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2659174a645b9" /><Relationship Type="http://schemas.openxmlformats.org/officeDocument/2006/relationships/notesSlide" Target="/ppt/notesSlides/notesSlide7.xml" Id="R9b064458b5de4c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fb0b50a71348e8" /><Relationship Type="http://schemas.openxmlformats.org/officeDocument/2006/relationships/notesSlide" Target="/ppt/notesSlides/notesSlide8.xml" Id="R9110b46e696e40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abel-DSY1107 · Cloud Native I-56">
            <a:extLst xmlns:a="http://schemas.openxmlformats.org/drawingml/2006/main">
              <a:ext uri="{FF2B5EF4-FFF2-40B4-BE49-F238E27FC236}">
                <a16:creationId xmlns:a16="http://schemas.microsoft.com/office/drawing/2014/main" id="{CA9F33D0-2155-4ADB-BACF-966B5D2E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DSY1107 · CLOUD NATIVE I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C0362B1-3E6F-4A6C-A3E9-8713435F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85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Nexo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9742208-7797-4B37-BC7A-47D90F1D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0375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Identidad institucional y autorización JWT, sin abandonar la aplicación FullStack existente.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EECC9DC2-5EC5-4FF4-985C-9EE2040D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914400"/>
            <a:ext cx="2476500" cy="4953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5" name="cover-mark">
            <a:extLst xmlns:a="http://schemas.openxmlformats.org/drawingml/2006/main">
              <a:ext uri="{FF2B5EF4-FFF2-40B4-BE49-F238E27FC236}">
                <a16:creationId xmlns:a16="http://schemas.microsoft.com/office/drawing/2014/main" id="{709531FC-2418-4239-B46E-A844AD0A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143125"/>
            <a:ext cx="1809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6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96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6" name="cover-meta">
            <a:extLst xmlns:a="http://schemas.openxmlformats.org/drawingml/2006/main">
              <a:ext uri="{FF2B5EF4-FFF2-40B4-BE49-F238E27FC236}">
                <a16:creationId xmlns:a16="http://schemas.microsoft.com/office/drawing/2014/main" id="{A71B3A35-B68E-47A7-A041-620C4378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86375"/>
            <a:ext cx="590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Angular · MSAL · Entra ID</a:t>
            </a:r>
          </a:p>
          <a:p xmlns:a="http://schemas.openxmlformats.org/drawingml/2006/main">
            <a:pPr algn="l">
              <a:defRPr sz="1500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Spring Boot · PostgreSQL</a:t>
            </a:r>
          </a:p>
          <a:p xmlns:a="http://schemas.openxmlformats.org/drawingml/2006/main">
            <a:pPr algn="l">
              <a:defRPr sz="1500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EC2 · API Gateway</a:t>
            </a:r>
          </a:p>
        </p:txBody>
      </p:sp>
    </p:spTree>
    <p:extLst>
      <p:ext uri="{BB962C8B-B14F-4D97-AF65-F5344CB8AC3E}">
        <p14:creationId xmlns:p14="http://schemas.microsoft.com/office/powerpoint/2010/main" val="6826969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">
            <a:extLst xmlns:a="http://schemas.openxmlformats.org/drawingml/2006/main">
              <a:ext uri="{FF2B5EF4-FFF2-40B4-BE49-F238E27FC236}">
                <a16:creationId xmlns:a16="http://schemas.microsoft.com/office/drawing/2014/main" id="{DC0F7D02-62DB-4146-87A1-0B991F66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114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La integración parte de Nexo, no de una aplicación nueva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D8BB49FC-CCC1-40B8-AA5F-F5EC128E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label-Funcionalidad seleccionada-54">
            <a:extLst xmlns:a="http://schemas.openxmlformats.org/drawingml/2006/main">
              <a:ext uri="{FF2B5EF4-FFF2-40B4-BE49-F238E27FC236}">
                <a16:creationId xmlns:a16="http://schemas.microsoft.com/office/drawing/2014/main" id="{9EFD2750-08EB-4CA1-923E-575353E9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FUNCIONALIDAD SELECCIONADA</a:t>
            </a:r>
          </a:p>
        </p:txBody>
      </p:sp>
      <p:sp>
        <p:nvSpPr>
          <p:cNvPr id="4" name="selected-feature">
            <a:extLst xmlns:a="http://schemas.openxmlformats.org/drawingml/2006/main">
              <a:ext uri="{FF2B5EF4-FFF2-40B4-BE49-F238E27FC236}">
                <a16:creationId xmlns:a16="http://schemas.microsoft.com/office/drawing/2014/main" id="{C71849F0-9C32-4DAF-A6FA-4C112270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857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Inicio/cierre de sesión y consulta del perfil autenticado.</a:t>
            </a:r>
          </a:p>
        </p:txBody>
      </p:sp>
      <p:sp>
        <p:nvSpPr>
          <p:cNvPr id="5" name="endpoint">
            <a:extLst xmlns:a="http://schemas.openxmlformats.org/drawingml/2006/main">
              <a:ext uri="{FF2B5EF4-FFF2-40B4-BE49-F238E27FC236}">
                <a16:creationId xmlns:a16="http://schemas.microsoft.com/office/drawing/2014/main" id="{EC8773B0-75A2-4F4E-867B-B27E8C36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718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GET /api/users/me</a:t>
            </a:r>
          </a:p>
        </p:txBody>
      </p:sp>
      <p:sp>
        <p:nvSpPr>
          <p:cNvPr id="6" name="endpoint-detail">
            <a:extLst xmlns:a="http://schemas.openxmlformats.org/drawingml/2006/main">
              <a:ext uri="{FF2B5EF4-FFF2-40B4-BE49-F238E27FC236}">
                <a16:creationId xmlns:a16="http://schemas.microsoft.com/office/drawing/2014/main" id="{0FD448D8-6F48-4815-AFF8-7BB8406F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4857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La ruta sincroniza al usuario en PostgreSQL y exige ROLE_USER local o SCOPE_access_as_user.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e6cee6b909425b"/>
          <a:srcRect xmlns:a="http://schemas.openxmlformats.org/drawingml/2006/main" l="0" t="2627" r="0" b="26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381125"/>
            <a:ext cx="5429250" cy="447675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</p:spTree>
    <p:extLst>
      <p:ext uri="{BB962C8B-B14F-4D97-AF65-F5344CB8AC3E}">
        <p14:creationId xmlns:p14="http://schemas.microsoft.com/office/powerpoint/2010/main" val="14888732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3">
            <a:extLst xmlns:a="http://schemas.openxmlformats.org/drawingml/2006/main">
              <a:ext uri="{FF2B5EF4-FFF2-40B4-BE49-F238E27FC236}">
                <a16:creationId xmlns:a16="http://schemas.microsoft.com/office/drawing/2014/main" id="{4E39CDEA-B52E-4C46-AEC5-D1DFC0C5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114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El token se valida en el borde y nuevamente en Spring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11982072-0EA1-4A1C-B6DE-5D61FD92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node-Angular SPA">
            <a:extLst xmlns:a="http://schemas.openxmlformats.org/drawingml/2006/main">
              <a:ext uri="{FF2B5EF4-FFF2-40B4-BE49-F238E27FC236}">
                <a16:creationId xmlns:a16="http://schemas.microsoft.com/office/drawing/2014/main" id="{3BB937D0-CCAE-48D6-90A1-B0172141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0"/>
            <a:ext cx="171450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</p:sp>
      <p:sp>
        <p:nvSpPr>
          <p:cNvPr id="4" name="node-title-Angular SPA">
            <a:extLst xmlns:a="http://schemas.openxmlformats.org/drawingml/2006/main">
              <a:ext uri="{FF2B5EF4-FFF2-40B4-BE49-F238E27FC236}">
                <a16:creationId xmlns:a16="http://schemas.microsoft.com/office/drawing/2014/main" id="{C9C3C354-B24E-4F0C-9DDF-9907EFC0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19375"/>
            <a:ext cx="1409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18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Angular SPA</a:t>
            </a:r>
          </a:p>
        </p:txBody>
      </p:sp>
      <p:sp>
        <p:nvSpPr>
          <p:cNvPr id="5" name="node-detail-Angular SPA">
            <a:extLst xmlns:a="http://schemas.openxmlformats.org/drawingml/2006/main">
              <a:ext uri="{FF2B5EF4-FFF2-40B4-BE49-F238E27FC236}">
                <a16:creationId xmlns:a16="http://schemas.microsoft.com/office/drawing/2014/main" id="{440BC62E-4451-4B73-87A7-602DB42F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381375"/>
            <a:ext cx="140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MSAL + PKCE</a:t>
            </a:r>
          </a:p>
        </p:txBody>
      </p:sp>
      <p:sp>
        <p:nvSpPr>
          <p:cNvPr id="6" name="node-Microsoft Entra ID">
            <a:extLst xmlns:a="http://schemas.openxmlformats.org/drawingml/2006/main">
              <a:ext uri="{FF2B5EF4-FFF2-40B4-BE49-F238E27FC236}">
                <a16:creationId xmlns:a16="http://schemas.microsoft.com/office/drawing/2014/main" id="{30FB3C41-7498-4705-AA09-03205309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86000"/>
            <a:ext cx="171450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>
            <a:solidFill>
              <a:srgbClr val="2D7FF9"/>
            </a:solidFill>
            <a:prstDash val="solid"/>
          </a:ln>
        </p:spPr>
      </p:sp>
      <p:sp>
        <p:nvSpPr>
          <p:cNvPr id="7" name="node-title-Microsoft Entra ID">
            <a:extLst xmlns:a="http://schemas.openxmlformats.org/drawingml/2006/main">
              <a:ext uri="{FF2B5EF4-FFF2-40B4-BE49-F238E27FC236}">
                <a16:creationId xmlns:a16="http://schemas.microsoft.com/office/drawing/2014/main" id="{A596B149-1F1C-4A89-8086-FB27D593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19375"/>
            <a:ext cx="1409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18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7FF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D7FF9"/>
                </a:solidFill>
                <a:latin typeface="Arial"/>
                <a:ea typeface="Arial"/>
                <a:cs typeface="Arial"/>
              </a:rPr>
              <a:t>Microsoft Entra ID</a:t>
            </a:r>
          </a:p>
        </p:txBody>
      </p:sp>
      <p:sp>
        <p:nvSpPr>
          <p:cNvPr id="8" name="node-detail-Microsoft Entra ID">
            <a:extLst xmlns:a="http://schemas.openxmlformats.org/drawingml/2006/main">
              <a:ext uri="{FF2B5EF4-FFF2-40B4-BE49-F238E27FC236}">
                <a16:creationId xmlns:a16="http://schemas.microsoft.com/office/drawing/2014/main" id="{D2446418-ED36-49BE-8F29-6BF81D02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81375"/>
            <a:ext cx="140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Emite access_as_user</a:t>
            </a:r>
          </a:p>
        </p:txBody>
      </p:sp>
      <p:sp>
        <p:nvSpPr>
          <p:cNvPr id="9" name="node-HTTP API Gateway">
            <a:extLst xmlns:a="http://schemas.openxmlformats.org/drawingml/2006/main">
              <a:ext uri="{FF2B5EF4-FFF2-40B4-BE49-F238E27FC236}">
                <a16:creationId xmlns:a16="http://schemas.microsoft.com/office/drawing/2014/main" id="{910985A4-04B2-4FA2-BD8C-0439C25B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286000"/>
            <a:ext cx="171450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0" name="node-title-HTTP API Gateway">
            <a:extLst xmlns:a="http://schemas.openxmlformats.org/drawingml/2006/main">
              <a:ext uri="{FF2B5EF4-FFF2-40B4-BE49-F238E27FC236}">
                <a16:creationId xmlns:a16="http://schemas.microsoft.com/office/drawing/2014/main" id="{A982A6D1-8701-4D08-80CF-F269FF91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619375"/>
            <a:ext cx="1409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18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HTTP API Gateway</a:t>
            </a:r>
          </a:p>
        </p:txBody>
      </p:sp>
      <p:sp>
        <p:nvSpPr>
          <p:cNvPr id="11" name="node-detail-HTTP API Gateway">
            <a:extLst xmlns:a="http://schemas.openxmlformats.org/drawingml/2006/main">
              <a:ext uri="{FF2B5EF4-FFF2-40B4-BE49-F238E27FC236}">
                <a16:creationId xmlns:a16="http://schemas.microsoft.com/office/drawing/2014/main" id="{6978A094-FAB4-470D-9C55-B9F84977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381375"/>
            <a:ext cx="140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CORS + JWT Authorizer</a:t>
            </a:r>
          </a:p>
        </p:txBody>
      </p:sp>
      <p:sp>
        <p:nvSpPr>
          <p:cNvPr id="12" name="node-Spring Boot en EC2">
            <a:extLst xmlns:a="http://schemas.openxmlformats.org/drawingml/2006/main">
              <a:ext uri="{FF2B5EF4-FFF2-40B4-BE49-F238E27FC236}">
                <a16:creationId xmlns:a16="http://schemas.microsoft.com/office/drawing/2014/main" id="{A987D598-9D8C-420D-80C1-42C347E7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0"/>
            <a:ext cx="171450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3" name="node-title-Spring Boot en EC2">
            <a:extLst xmlns:a="http://schemas.openxmlformats.org/drawingml/2006/main">
              <a:ext uri="{FF2B5EF4-FFF2-40B4-BE49-F238E27FC236}">
                <a16:creationId xmlns:a16="http://schemas.microsoft.com/office/drawing/2014/main" id="{950BCC5C-8F55-49B2-AC8B-6148CB61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19375"/>
            <a:ext cx="1409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72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Spring Boot en EC2</a:t>
            </a:r>
          </a:p>
        </p:txBody>
      </p:sp>
      <p:sp>
        <p:nvSpPr>
          <p:cNvPr id="14" name="node-detail-Spring Boot en EC2">
            <a:extLst xmlns:a="http://schemas.openxmlformats.org/drawingml/2006/main">
              <a:ext uri="{FF2B5EF4-FFF2-40B4-BE49-F238E27FC236}">
                <a16:creationId xmlns:a16="http://schemas.microsoft.com/office/drawing/2014/main" id="{25E8EE5A-6880-4629-976E-67AB7246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81375"/>
            <a:ext cx="140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94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Issuer · audience · firma · exp</a:t>
            </a:r>
          </a:p>
        </p:txBody>
      </p:sp>
      <p:sp>
        <p:nvSpPr>
          <p:cNvPr id="15" name="node-Postgres">
            <a:extLst xmlns:a="http://schemas.openxmlformats.org/drawingml/2006/main">
              <a:ext uri="{FF2B5EF4-FFF2-40B4-BE49-F238E27FC236}">
                <a16:creationId xmlns:a16="http://schemas.microsoft.com/office/drawing/2014/main" id="{BCF47D66-E3F8-4F3A-BE7F-A4376D51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286000"/>
            <a:ext cx="171450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6" name="node-title-Postgres">
            <a:extLst xmlns:a="http://schemas.openxmlformats.org/drawingml/2006/main">
              <a:ext uri="{FF2B5EF4-FFF2-40B4-BE49-F238E27FC236}">
                <a16:creationId xmlns:a16="http://schemas.microsoft.com/office/drawing/2014/main" id="{12CC84B1-A9A2-4303-B0EB-FA3A2559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2619375"/>
            <a:ext cx="1409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Postgres</a:t>
            </a:r>
          </a:p>
        </p:txBody>
      </p:sp>
      <p:sp>
        <p:nvSpPr>
          <p:cNvPr id="17" name="node-detail-Postgres">
            <a:extLst xmlns:a="http://schemas.openxmlformats.org/drawingml/2006/main">
              <a:ext uri="{FF2B5EF4-FFF2-40B4-BE49-F238E27FC236}">
                <a16:creationId xmlns:a16="http://schemas.microsoft.com/office/drawing/2014/main" id="{FFF94058-9976-4921-BC43-69C4D89C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3381375"/>
            <a:ext cx="140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Perfil; sin contraseña Microsoft</a:t>
            </a:r>
          </a:p>
        </p:txBody>
      </p:sp>
      <p:sp>
        <p:nvSpPr>
          <p:cNvPr id="18" name="arrow-245">
            <a:extLst xmlns:a="http://schemas.openxmlformats.org/drawingml/2006/main">
              <a:ext uri="{FF2B5EF4-FFF2-40B4-BE49-F238E27FC236}">
                <a16:creationId xmlns:a16="http://schemas.microsoft.com/office/drawing/2014/main" id="{B3A71B5B-6023-43EB-93B2-BA50AEB5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000375"/>
            <a:ext cx="428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512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arrow-500">
            <a:extLst xmlns:a="http://schemas.openxmlformats.org/drawingml/2006/main">
              <a:ext uri="{FF2B5EF4-FFF2-40B4-BE49-F238E27FC236}">
                <a16:creationId xmlns:a16="http://schemas.microsoft.com/office/drawing/2014/main" id="{15B2760F-283D-43CD-8E9A-C64224C2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00375"/>
            <a:ext cx="428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512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arrow-755">
            <a:extLst xmlns:a="http://schemas.openxmlformats.org/drawingml/2006/main">
              <a:ext uri="{FF2B5EF4-FFF2-40B4-BE49-F238E27FC236}">
                <a16:creationId xmlns:a16="http://schemas.microsoft.com/office/drawing/2014/main" id="{EC0B0295-6865-4FA5-B2C7-7A95577A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00375"/>
            <a:ext cx="428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512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arrow-1010">
            <a:extLst xmlns:a="http://schemas.openxmlformats.org/drawingml/2006/main">
              <a:ext uri="{FF2B5EF4-FFF2-40B4-BE49-F238E27FC236}">
                <a16:creationId xmlns:a16="http://schemas.microsoft.com/office/drawing/2014/main" id="{6E1DE9ED-E19C-4464-A6C4-0A4E5E14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00375"/>
            <a:ext cx="428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512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architecture-note">
            <a:extLst xmlns:a="http://schemas.openxmlformats.org/drawingml/2006/main">
              <a:ext uri="{FF2B5EF4-FFF2-40B4-BE49-F238E27FC236}">
                <a16:creationId xmlns:a16="http://schemas.microsoft.com/office/drawing/2014/main" id="{D153D761-3CE9-44B2-9011-D0F7BBB3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990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Defensa en profundidad: API Gateway filtra antes de llegar a EC2; Spring Security sigue siendo la autoridad final.</a:t>
            </a:r>
          </a:p>
        </p:txBody>
      </p:sp>
    </p:spTree>
    <p:extLst>
      <p:ext uri="{BB962C8B-B14F-4D97-AF65-F5344CB8AC3E}">
        <p14:creationId xmlns:p14="http://schemas.microsoft.com/office/powerpoint/2010/main" val="9677341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-4">
            <a:extLst xmlns:a="http://schemas.openxmlformats.org/drawingml/2006/main">
              <a:ext uri="{FF2B5EF4-FFF2-40B4-BE49-F238E27FC236}">
                <a16:creationId xmlns:a16="http://schemas.microsoft.com/office/drawing/2014/main" id="{22F3D454-D997-452A-9F8C-B36F596F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114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Authorization Code + PKCE evita secretos en Angular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F62E1E8E-766A-4E98-B982-7AADD443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step-1">
            <a:extLst xmlns:a="http://schemas.openxmlformats.org/drawingml/2006/main">
              <a:ext uri="{FF2B5EF4-FFF2-40B4-BE49-F238E27FC236}">
                <a16:creationId xmlns:a16="http://schemas.microsoft.com/office/drawing/2014/main" id="{E64B4622-0577-4561-8F72-6D085685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8375"/>
            <a:ext cx="1952625" cy="2333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0F1F4"/>
          </a:solidFill>
          <a:ln xmlns:a="http://schemas.openxmlformats.org/drawingml/2006/main" w="9525">
            <a:solidFill>
              <a:srgbClr val="C8CBD3"/>
            </a:solidFill>
            <a:prstDash val="solid"/>
          </a:ln>
        </p:spPr>
      </p:sp>
      <p:sp>
        <p:nvSpPr>
          <p:cNvPr id="4" name="step-num-1">
            <a:extLst xmlns:a="http://schemas.openxmlformats.org/drawingml/2006/main">
              <a:ext uri="{FF2B5EF4-FFF2-40B4-BE49-F238E27FC236}">
                <a16:creationId xmlns:a16="http://schemas.microsoft.com/office/drawing/2014/main" id="{463F8CD0-1350-4532-BF02-672D4444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tep-head-1">
            <a:extLst xmlns:a="http://schemas.openxmlformats.org/drawingml/2006/main">
              <a:ext uri="{FF2B5EF4-FFF2-40B4-BE49-F238E27FC236}">
                <a16:creationId xmlns:a16="http://schemas.microsoft.com/office/drawing/2014/main" id="{D5325FCF-1312-4387-82B6-490BBE2C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Redirección</a:t>
            </a:r>
          </a:p>
        </p:txBody>
      </p:sp>
      <p:sp>
        <p:nvSpPr>
          <p:cNvPr id="6" name="step-body-1">
            <a:extLst xmlns:a="http://schemas.openxmlformats.org/drawingml/2006/main">
              <a:ext uri="{FF2B5EF4-FFF2-40B4-BE49-F238E27FC236}">
                <a16:creationId xmlns:a16="http://schemas.microsoft.com/office/drawing/2014/main" id="{8D29ED82-DA05-4166-A06D-5FF5AD30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1571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loginRedirect solicita access_as_user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3BC3F783-8EA5-46D7-A1C9-6763428C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38375"/>
            <a:ext cx="1952625" cy="2333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0F1F4"/>
          </a:solidFill>
          <a:ln xmlns:a="http://schemas.openxmlformats.org/drawingml/2006/main" w="9525">
            <a:solidFill>
              <a:srgbClr val="C8CBD3"/>
            </a:solidFill>
            <a:prstDash val="solid"/>
          </a:ln>
        </p:spPr>
      </p:sp>
      <p:sp>
        <p:nvSpPr>
          <p:cNvPr id="8" name="step-num-2">
            <a:extLst xmlns:a="http://schemas.openxmlformats.org/drawingml/2006/main">
              <a:ext uri="{FF2B5EF4-FFF2-40B4-BE49-F238E27FC236}">
                <a16:creationId xmlns:a16="http://schemas.microsoft.com/office/drawing/2014/main" id="{F0E7ADCF-F26D-4CF9-9888-5EC7F94D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0030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step-head-2">
            <a:extLst xmlns:a="http://schemas.openxmlformats.org/drawingml/2006/main">
              <a:ext uri="{FF2B5EF4-FFF2-40B4-BE49-F238E27FC236}">
                <a16:creationId xmlns:a16="http://schemas.microsoft.com/office/drawing/2014/main" id="{12EC7DC9-1410-4430-B117-B1B83AE2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4800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Identidad</a:t>
            </a:r>
          </a:p>
        </p:txBody>
      </p:sp>
      <p:sp>
        <p:nvSpPr>
          <p:cNvPr id="10" name="step-body-2">
            <a:extLst xmlns:a="http://schemas.openxmlformats.org/drawingml/2006/main">
              <a:ext uri="{FF2B5EF4-FFF2-40B4-BE49-F238E27FC236}">
                <a16:creationId xmlns:a16="http://schemas.microsoft.com/office/drawing/2014/main" id="{E7E8203E-CF0F-47B3-8F9C-6921D0D7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19500"/>
            <a:ext cx="1571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Entra autentica; usuario completa MFA</a:t>
            </a:r>
          </a:p>
        </p:txBody>
      </p:sp>
      <p:sp>
        <p:nvSpPr>
          <p:cNvPr id="11" name="step-3">
            <a:extLst xmlns:a="http://schemas.openxmlformats.org/drawingml/2006/main">
              <a:ext uri="{FF2B5EF4-FFF2-40B4-BE49-F238E27FC236}">
                <a16:creationId xmlns:a16="http://schemas.microsoft.com/office/drawing/2014/main" id="{CDDC67E6-02F4-4299-8EAA-2395A2F9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38375"/>
            <a:ext cx="1952625" cy="2333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</p:sp>
      <p:sp>
        <p:nvSpPr>
          <p:cNvPr id="12" name="step-num-3">
            <a:extLst xmlns:a="http://schemas.openxmlformats.org/drawingml/2006/main">
              <a:ext uri="{FF2B5EF4-FFF2-40B4-BE49-F238E27FC236}">
                <a16:creationId xmlns:a16="http://schemas.microsoft.com/office/drawing/2014/main" id="{5E76013C-0344-4C81-B656-A7936042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0030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step-head-3">
            <a:extLst xmlns:a="http://schemas.openxmlformats.org/drawingml/2006/main">
              <a:ext uri="{FF2B5EF4-FFF2-40B4-BE49-F238E27FC236}">
                <a16:creationId xmlns:a16="http://schemas.microsoft.com/office/drawing/2014/main" id="{93FC925F-B40D-4FD4-B31D-0316A644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4800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Callback</a:t>
            </a:r>
          </a:p>
        </p:txBody>
      </p:sp>
      <p:sp>
        <p:nvSpPr>
          <p:cNvPr id="14" name="step-body-3">
            <a:extLst xmlns:a="http://schemas.openxmlformats.org/drawingml/2006/main">
              <a:ext uri="{FF2B5EF4-FFF2-40B4-BE49-F238E27FC236}">
                <a16:creationId xmlns:a16="http://schemas.microsoft.com/office/drawing/2014/main" id="{D7858214-ABF5-4564-B1DC-FA866582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0"/>
            <a:ext cx="1571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Procesa retorno y fija la cuenta activa</a:t>
            </a:r>
          </a:p>
        </p:txBody>
      </p:sp>
      <p:sp>
        <p:nvSpPr>
          <p:cNvPr id="15" name="step-4">
            <a:extLst xmlns:a="http://schemas.openxmlformats.org/drawingml/2006/main">
              <a:ext uri="{FF2B5EF4-FFF2-40B4-BE49-F238E27FC236}">
                <a16:creationId xmlns:a16="http://schemas.microsoft.com/office/drawing/2014/main" id="{3A5A793C-0737-4F51-B8D8-59C6C439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38375"/>
            <a:ext cx="1952625" cy="2333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0F1F4"/>
          </a:solidFill>
          <a:ln xmlns:a="http://schemas.openxmlformats.org/drawingml/2006/main" w="9525">
            <a:solidFill>
              <a:srgbClr val="C8CBD3"/>
            </a:solidFill>
            <a:prstDash val="solid"/>
          </a:ln>
        </p:spPr>
      </p:sp>
      <p:sp>
        <p:nvSpPr>
          <p:cNvPr id="16" name="step-num-4">
            <a:extLst xmlns:a="http://schemas.openxmlformats.org/drawingml/2006/main">
              <a:ext uri="{FF2B5EF4-FFF2-40B4-BE49-F238E27FC236}">
                <a16:creationId xmlns:a16="http://schemas.microsoft.com/office/drawing/2014/main" id="{B56126B2-1128-4CBC-89D1-1C749655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0030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step-head-4">
            <a:extLst xmlns:a="http://schemas.openxmlformats.org/drawingml/2006/main">
              <a:ext uri="{FF2B5EF4-FFF2-40B4-BE49-F238E27FC236}">
                <a16:creationId xmlns:a16="http://schemas.microsoft.com/office/drawing/2014/main" id="{327608BE-09DE-4F85-99BD-7C1040DD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4800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Token</a:t>
            </a:r>
          </a:p>
        </p:txBody>
      </p:sp>
      <p:sp>
        <p:nvSpPr>
          <p:cNvPr id="18" name="step-body-4">
            <a:extLst xmlns:a="http://schemas.openxmlformats.org/drawingml/2006/main">
              <a:ext uri="{FF2B5EF4-FFF2-40B4-BE49-F238E27FC236}">
                <a16:creationId xmlns:a16="http://schemas.microsoft.com/office/drawing/2014/main" id="{39816D45-EC6A-41ED-B495-2FEEEDFC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19500"/>
            <a:ext cx="1571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acquireTokenSilent obtiene Access Token</a:t>
            </a:r>
          </a:p>
        </p:txBody>
      </p:sp>
      <p:sp>
        <p:nvSpPr>
          <p:cNvPr id="19" name="step-5">
            <a:extLst xmlns:a="http://schemas.openxmlformats.org/drawingml/2006/main">
              <a:ext uri="{FF2B5EF4-FFF2-40B4-BE49-F238E27FC236}">
                <a16:creationId xmlns:a16="http://schemas.microsoft.com/office/drawing/2014/main" id="{DFDCC9F0-8930-4D60-AD8B-A320E716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238375"/>
            <a:ext cx="1952625" cy="2333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0F1F4"/>
          </a:solidFill>
          <a:ln xmlns:a="http://schemas.openxmlformats.org/drawingml/2006/main" w="9525">
            <a:solidFill>
              <a:srgbClr val="C8CBD3"/>
            </a:solidFill>
            <a:prstDash val="solid"/>
          </a:ln>
        </p:spPr>
      </p:sp>
      <p:sp>
        <p:nvSpPr>
          <p:cNvPr id="20" name="step-num-5">
            <a:extLst xmlns:a="http://schemas.openxmlformats.org/drawingml/2006/main">
              <a:ext uri="{FF2B5EF4-FFF2-40B4-BE49-F238E27FC236}">
                <a16:creationId xmlns:a16="http://schemas.microsoft.com/office/drawing/2014/main" id="{729B9DF2-4CA0-412E-AC05-28E28351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40030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1" name="step-head-5">
            <a:extLst xmlns:a="http://schemas.openxmlformats.org/drawingml/2006/main">
              <a:ext uri="{FF2B5EF4-FFF2-40B4-BE49-F238E27FC236}">
                <a16:creationId xmlns:a16="http://schemas.microsoft.com/office/drawing/2014/main" id="{5219A08F-31F4-41BE-99F1-C6313251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4800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22" name="step-body-5">
            <a:extLst xmlns:a="http://schemas.openxmlformats.org/drawingml/2006/main">
              <a:ext uri="{FF2B5EF4-FFF2-40B4-BE49-F238E27FC236}">
                <a16:creationId xmlns:a16="http://schemas.microsoft.com/office/drawing/2014/main" id="{9DAA5933-AE7F-4D2D-BFDB-C2C1322B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619500"/>
            <a:ext cx="1571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Interceptor agrega Bearer a /api</a:t>
            </a:r>
          </a:p>
        </p:txBody>
      </p:sp>
      <p:sp>
        <p:nvSpPr>
          <p:cNvPr id="23" name="pkce-note">
            <a:extLst xmlns:a="http://schemas.openxmlformats.org/drawingml/2006/main">
              <a:ext uri="{FF2B5EF4-FFF2-40B4-BE49-F238E27FC236}">
                <a16:creationId xmlns:a16="http://schemas.microsoft.com/office/drawing/2014/main" id="{1CFB3E6E-F519-49C3-A515-473934B2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911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533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El Client ID y el scope son públicos. Angular nunca almacena un Client Secret.</a:t>
            </a:r>
          </a:p>
        </p:txBody>
      </p:sp>
    </p:spTree>
    <p:extLst>
      <p:ext uri="{BB962C8B-B14F-4D97-AF65-F5344CB8AC3E}">
        <p14:creationId xmlns:p14="http://schemas.microsoft.com/office/powerpoint/2010/main" val="19224683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5">
            <a:extLst xmlns:a="http://schemas.openxmlformats.org/drawingml/2006/main">
              <a:ext uri="{FF2B5EF4-FFF2-40B4-BE49-F238E27FC236}">
                <a16:creationId xmlns:a16="http://schemas.microsoft.com/office/drawing/2014/main" id="{FB6CD38C-D549-4CE1-A962-79E2D857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114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La autorización distingue identidad, sesión y permiso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1D1E5467-5B38-4CFC-94B7-C77A6C3F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point-head-0">
            <a:extLst xmlns:a="http://schemas.openxmlformats.org/drawingml/2006/main">
              <a:ext uri="{FF2B5EF4-FFF2-40B4-BE49-F238E27FC236}">
                <a16:creationId xmlns:a16="http://schemas.microsoft.com/office/drawing/2014/main" id="{B80D7DED-B220-4049-9A26-A7C88056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Rutas Angular</a:t>
            </a:r>
          </a:p>
        </p:txBody>
      </p:sp>
      <p:sp>
        <p:nvSpPr>
          <p:cNvPr id="4" name="point-body-0">
            <a:extLst xmlns:a="http://schemas.openxmlformats.org/drawingml/2006/main">
              <a:ext uri="{FF2B5EF4-FFF2-40B4-BE49-F238E27FC236}">
                <a16:creationId xmlns:a16="http://schemas.microsoft.com/office/drawing/2014/main" id="{CCFFA4D9-FA73-41D2-B2A7-BD864DA8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57450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/login pública; /home y /profile protegidas.</a:t>
            </a:r>
          </a:p>
        </p:txBody>
      </p:sp>
      <p:sp>
        <p:nvSpPr>
          <p:cNvPr id="5" name="point-head-1">
            <a:extLst xmlns:a="http://schemas.openxmlformats.org/drawingml/2006/main">
              <a:ext uri="{FF2B5EF4-FFF2-40B4-BE49-F238E27FC236}">
                <a16:creationId xmlns:a16="http://schemas.microsoft.com/office/drawing/2014/main" id="{8A28EDB9-384B-403B-9C7A-19E5FC9D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097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Sesiones separadas</a:t>
            </a:r>
          </a:p>
        </p:txBody>
      </p:sp>
      <p:sp>
        <p:nvSpPr>
          <p:cNvPr id="6" name="point-body-1">
            <a:extLst xmlns:a="http://schemas.openxmlformats.org/drawingml/2006/main">
              <a:ext uri="{FF2B5EF4-FFF2-40B4-BE49-F238E27FC236}">
                <a16:creationId xmlns:a16="http://schemas.microsoft.com/office/drawing/2014/main" id="{8A4EB0DE-3A03-4E2A-8A8A-B089B63E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57450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demo, local y Microsoft no comparten credenciales.</a:t>
            </a:r>
          </a:p>
        </p:txBody>
      </p:sp>
      <p:sp>
        <p:nvSpPr>
          <p:cNvPr id="7" name="point-head-2">
            <a:extLst xmlns:a="http://schemas.openxmlformats.org/drawingml/2006/main">
              <a:ext uri="{FF2B5EF4-FFF2-40B4-BE49-F238E27FC236}">
                <a16:creationId xmlns:a16="http://schemas.microsoft.com/office/drawing/2014/main" id="{4F59FA76-5B2B-4A61-9E1F-E007438B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Scopes y roles</a:t>
            </a:r>
          </a:p>
        </p:txBody>
      </p:sp>
      <p:sp>
        <p:nvSpPr>
          <p:cNvPr id="8" name="point-body-2">
            <a:extLst xmlns:a="http://schemas.openxmlformats.org/drawingml/2006/main">
              <a:ext uri="{FF2B5EF4-FFF2-40B4-BE49-F238E27FC236}">
                <a16:creationId xmlns:a16="http://schemas.microsoft.com/office/drawing/2014/main" id="{0011659F-4418-4486-9482-7FA12F4C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43450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scp/scope → SCOPE_*; roles → ROLE_*.</a:t>
            </a:r>
          </a:p>
        </p:txBody>
      </p:sp>
      <p:sp>
        <p:nvSpPr>
          <p:cNvPr id="9" name="point-head-3">
            <a:extLst xmlns:a="http://schemas.openxmlformats.org/drawingml/2006/main">
              <a:ext uri="{FF2B5EF4-FFF2-40B4-BE49-F238E27FC236}">
                <a16:creationId xmlns:a16="http://schemas.microsoft.com/office/drawing/2014/main" id="{1F6D46BD-7A0A-4F10-9720-FF7E00A0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957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Persistencia segura</a:t>
            </a:r>
          </a:p>
        </p:txBody>
      </p:sp>
      <p:sp>
        <p:nvSpPr>
          <p:cNvPr id="10" name="point-body-3">
            <a:extLst xmlns:a="http://schemas.openxmlformats.org/drawingml/2006/main">
              <a:ext uri="{FF2B5EF4-FFF2-40B4-BE49-F238E27FC236}">
                <a16:creationId xmlns:a16="http://schemas.microsoft.com/office/drawing/2014/main" id="{411E09A5-EA33-4C7B-8F1F-E963F685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743450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oid identifica al usuario; password_hash queda NULL.</a:t>
            </a:r>
          </a:p>
        </p:txBody>
      </p:sp>
    </p:spTree>
    <p:extLst>
      <p:ext uri="{BB962C8B-B14F-4D97-AF65-F5344CB8AC3E}">
        <p14:creationId xmlns:p14="http://schemas.microsoft.com/office/powerpoint/2010/main" val="11927065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6">
            <a:extLst xmlns:a="http://schemas.openxmlformats.org/drawingml/2006/main">
              <a:ext uri="{FF2B5EF4-FFF2-40B4-BE49-F238E27FC236}">
                <a16:creationId xmlns:a16="http://schemas.microsoft.com/office/drawing/2014/main" id="{6F2B4E9B-2163-481B-9341-63D92792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114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Las pruebas locales ya cubren la matriz 401 / 403 / 200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D1A880B6-0B42-4490-98E1-850FAAFB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" name="evidence-explainer">
            <a:extLst xmlns:a="http://schemas.openxmlformats.org/drawingml/2006/main">
              <a:ext uri="{FF2B5EF4-FFF2-40B4-BE49-F238E27FC236}">
                <a16:creationId xmlns:a16="http://schemas.microsoft.com/office/drawing/2014/main" id="{0044B4DA-AE69-4E6D-BF1F-10F5FD71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Resultados repetibles sin exponer tokens completos. Falta repetirlos con un token Microsoft real y después en API Gateway.</a:t>
            </a:r>
          </a:p>
        </p:txBody>
      </p:sp>
      <p:sp>
        <p:nvSpPr>
          <p:cNvPr id="4" name="metric-0">
            <a:extLst xmlns:a="http://schemas.openxmlformats.org/drawingml/2006/main">
              <a:ext uri="{FF2B5EF4-FFF2-40B4-BE49-F238E27FC236}">
                <a16:creationId xmlns:a16="http://schemas.microsoft.com/office/drawing/2014/main" id="{736E9553-CD52-4972-A11E-BAEA43FF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62250"/>
            <a:ext cx="34290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0F1F4"/>
          </a:solidFill>
          <a:ln xmlns:a="http://schemas.openxmlformats.org/drawingml/2006/main" w="9525">
            <a:solidFill>
              <a:srgbClr val="C8CBD3"/>
            </a:solidFill>
            <a:prstDash val="solid"/>
          </a:ln>
        </p:spPr>
      </p:sp>
      <p:sp>
        <p:nvSpPr>
          <p:cNvPr id="5" name="metric-stat-0">
            <a:extLst xmlns:a="http://schemas.openxmlformats.org/drawingml/2006/main">
              <a:ext uri="{FF2B5EF4-FFF2-40B4-BE49-F238E27FC236}">
                <a16:creationId xmlns:a16="http://schemas.microsoft.com/office/drawing/2014/main" id="{2F655781-4194-49EB-B5F5-8CFDC5C5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90875"/>
            <a:ext cx="2895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30/30</a:t>
            </a:r>
          </a:p>
        </p:txBody>
      </p:sp>
      <p:sp>
        <p:nvSpPr>
          <p:cNvPr id="6" name="metric-head-0">
            <a:extLst xmlns:a="http://schemas.openxmlformats.org/drawingml/2006/main">
              <a:ext uri="{FF2B5EF4-FFF2-40B4-BE49-F238E27FC236}">
                <a16:creationId xmlns:a16="http://schemas.microsoft.com/office/drawing/2014/main" id="{D2D825CF-0D93-424F-8EF1-78B65B06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28625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7" name="metric-body-0">
            <a:extLst xmlns:a="http://schemas.openxmlformats.org/drawingml/2006/main">
              <a:ext uri="{FF2B5EF4-FFF2-40B4-BE49-F238E27FC236}">
                <a16:creationId xmlns:a16="http://schemas.microsoft.com/office/drawing/2014/main" id="{AD8F5E3D-7809-44D5-A21C-BAE1BE95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810125"/>
            <a:ext cx="2895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Build correcto</a:t>
            </a:r>
          </a:p>
        </p:txBody>
      </p:sp>
      <p:sp>
        <p:nvSpPr>
          <p:cNvPr id="8" name="metric-1">
            <a:extLst xmlns:a="http://schemas.openxmlformats.org/drawingml/2006/main">
              <a:ext uri="{FF2B5EF4-FFF2-40B4-BE49-F238E27FC236}">
                <a16:creationId xmlns:a16="http://schemas.microsoft.com/office/drawing/2014/main" id="{B7A8A5E3-63F3-4114-9666-659CBE6E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62250"/>
            <a:ext cx="34290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0F1F4"/>
          </a:solidFill>
          <a:ln xmlns:a="http://schemas.openxmlformats.org/drawingml/2006/main" w="9525">
            <a:solidFill>
              <a:srgbClr val="C8CBD3"/>
            </a:solidFill>
            <a:prstDash val="solid"/>
          </a:ln>
        </p:spPr>
      </p:sp>
      <p:sp>
        <p:nvSpPr>
          <p:cNvPr id="9" name="metric-stat-1">
            <a:extLst xmlns:a="http://schemas.openxmlformats.org/drawingml/2006/main">
              <a:ext uri="{FF2B5EF4-FFF2-40B4-BE49-F238E27FC236}">
                <a16:creationId xmlns:a16="http://schemas.microsoft.com/office/drawing/2014/main" id="{1D87236B-B76C-44C1-8727-E958B480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90875"/>
            <a:ext cx="2895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24/24</a:t>
            </a:r>
          </a:p>
        </p:txBody>
      </p:sp>
      <p:sp>
        <p:nvSpPr>
          <p:cNvPr id="10" name="metric-head-1">
            <a:extLst xmlns:a="http://schemas.openxmlformats.org/drawingml/2006/main">
              <a:ext uri="{FF2B5EF4-FFF2-40B4-BE49-F238E27FC236}">
                <a16:creationId xmlns:a16="http://schemas.microsoft.com/office/drawing/2014/main" id="{480A3F47-94EC-4D6A-8EA7-B09B01EC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8625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11" name="metric-body-1">
            <a:extLst xmlns:a="http://schemas.openxmlformats.org/drawingml/2006/main">
              <a:ext uri="{FF2B5EF4-FFF2-40B4-BE49-F238E27FC236}">
                <a16:creationId xmlns:a16="http://schemas.microsoft.com/office/drawing/2014/main" id="{9C729941-6523-4B36-A01B-83FF4C03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10125"/>
            <a:ext cx="2895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Testcontainers + JWT</a:t>
            </a:r>
          </a:p>
        </p:txBody>
      </p:sp>
      <p:sp>
        <p:nvSpPr>
          <p:cNvPr id="12" name="metric-2">
            <a:extLst xmlns:a="http://schemas.openxmlformats.org/drawingml/2006/main">
              <a:ext uri="{FF2B5EF4-FFF2-40B4-BE49-F238E27FC236}">
                <a16:creationId xmlns:a16="http://schemas.microsoft.com/office/drawing/2014/main" id="{8EEF1357-7F2A-4ED2-8DFC-16858A92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62250"/>
            <a:ext cx="34290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</p:sp>
      <p:sp>
        <p:nvSpPr>
          <p:cNvPr id="13" name="metric-stat-2">
            <a:extLst xmlns:a="http://schemas.openxmlformats.org/drawingml/2006/main">
              <a:ext uri="{FF2B5EF4-FFF2-40B4-BE49-F238E27FC236}">
                <a16:creationId xmlns:a16="http://schemas.microsoft.com/office/drawing/2014/main" id="{7E747DBB-B626-47FE-BE54-58666407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190875"/>
            <a:ext cx="2895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401·403·200</a:t>
            </a:r>
          </a:p>
        </p:txBody>
      </p:sp>
      <p:sp>
        <p:nvSpPr>
          <p:cNvPr id="14" name="metric-head-2">
            <a:extLst xmlns:a="http://schemas.openxmlformats.org/drawingml/2006/main">
              <a:ext uri="{FF2B5EF4-FFF2-40B4-BE49-F238E27FC236}">
                <a16:creationId xmlns:a16="http://schemas.microsoft.com/office/drawing/2014/main" id="{32A77972-0CC7-4C82-AA44-F853D7C8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28625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Seguridad</a:t>
            </a:r>
          </a:p>
        </p:txBody>
      </p:sp>
      <p:sp>
        <p:nvSpPr>
          <p:cNvPr id="15" name="metric-body-2">
            <a:extLst xmlns:a="http://schemas.openxmlformats.org/drawingml/2006/main">
              <a:ext uri="{FF2B5EF4-FFF2-40B4-BE49-F238E27FC236}">
                <a16:creationId xmlns:a16="http://schemas.microsoft.com/office/drawing/2014/main" id="{EFEDD9FC-F7B1-42A3-B5A6-3A530C08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810125"/>
            <a:ext cx="2895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Casos automatizados</a:t>
            </a:r>
          </a:p>
        </p:txBody>
      </p:sp>
    </p:spTree>
    <p:extLst>
      <p:ext uri="{BB962C8B-B14F-4D97-AF65-F5344CB8AC3E}">
        <p14:creationId xmlns:p14="http://schemas.microsoft.com/office/powerpoint/2010/main" val="5586987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-7">
            <a:extLst xmlns:a="http://schemas.openxmlformats.org/drawingml/2006/main">
              <a:ext uri="{FF2B5EF4-FFF2-40B4-BE49-F238E27FC236}">
                <a16:creationId xmlns:a16="http://schemas.microsoft.com/office/drawing/2014/main" id="{FE892C5D-2743-4F37-B2C7-EDECDDCA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114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La base local está lista; la nube aún requiere autorización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CD7C4FE4-F983-4581-8B10-39624946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phase-name-0">
            <a:extLst xmlns:a="http://schemas.openxmlformats.org/drawingml/2006/main">
              <a:ext uri="{FF2B5EF4-FFF2-40B4-BE49-F238E27FC236}">
                <a16:creationId xmlns:a16="http://schemas.microsoft.com/office/drawing/2014/main" id="{CA7C5282-88EC-4D4F-A37F-61E03113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Diagnóstico</a:t>
            </a:r>
          </a:p>
        </p:txBody>
      </p:sp>
      <p:sp>
        <p:nvSpPr>
          <p:cNvPr id="4" name="phase-rule-0">
            <a:extLst xmlns:a="http://schemas.openxmlformats.org/drawingml/2006/main">
              <a:ext uri="{FF2B5EF4-FFF2-40B4-BE49-F238E27FC236}">
                <a16:creationId xmlns:a16="http://schemas.microsoft.com/office/drawing/2014/main" id="{4D385E6C-ADA4-4DBB-8314-F265BAD2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2000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BD3"/>
            </a:solidFill>
            <a:prstDash val="solid"/>
          </a:ln>
        </p:spPr>
      </p:sp>
      <p:sp>
        <p:nvSpPr>
          <p:cNvPr id="5" name="phase-status-0">
            <a:extLst xmlns:a="http://schemas.openxmlformats.org/drawingml/2006/main">
              <a:ext uri="{FF2B5EF4-FFF2-40B4-BE49-F238E27FC236}">
                <a16:creationId xmlns:a16="http://schemas.microsoft.com/office/drawing/2014/main" id="{2525546B-B3A1-4053-930D-55133740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62250"/>
            <a:ext cx="2000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6" name="phase-status-text-0">
            <a:extLst xmlns:a="http://schemas.openxmlformats.org/drawingml/2006/main">
              <a:ext uri="{FF2B5EF4-FFF2-40B4-BE49-F238E27FC236}">
                <a16:creationId xmlns:a16="http://schemas.microsoft.com/office/drawing/2014/main" id="{CB244C74-113C-4EE5-A266-F237A4D4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0956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Listo</a:t>
            </a:r>
          </a:p>
        </p:txBody>
      </p:sp>
      <p:sp>
        <p:nvSpPr>
          <p:cNvPr id="7" name="phase-name-1">
            <a:extLst xmlns:a="http://schemas.openxmlformats.org/drawingml/2006/main">
              <a:ext uri="{FF2B5EF4-FFF2-40B4-BE49-F238E27FC236}">
                <a16:creationId xmlns:a16="http://schemas.microsoft.com/office/drawing/2014/main" id="{5FF02DE1-8B11-4473-B084-A0641E26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666875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MSAL / Spring</a:t>
            </a:r>
          </a:p>
        </p:txBody>
      </p:sp>
      <p:sp>
        <p:nvSpPr>
          <p:cNvPr id="8" name="phase-rule-1">
            <a:extLst xmlns:a="http://schemas.openxmlformats.org/drawingml/2006/main">
              <a:ext uri="{FF2B5EF4-FFF2-40B4-BE49-F238E27FC236}">
                <a16:creationId xmlns:a16="http://schemas.microsoft.com/office/drawing/2014/main" id="{D3806F2C-4CE6-4D0C-B161-A4DD5DA2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333625"/>
            <a:ext cx="2000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BD3"/>
            </a:solidFill>
            <a:prstDash val="solid"/>
          </a:ln>
        </p:spPr>
      </p:sp>
      <p:sp>
        <p:nvSpPr>
          <p:cNvPr id="9" name="phase-status-1">
            <a:extLst xmlns:a="http://schemas.openxmlformats.org/drawingml/2006/main">
              <a:ext uri="{FF2B5EF4-FFF2-40B4-BE49-F238E27FC236}">
                <a16:creationId xmlns:a16="http://schemas.microsoft.com/office/drawing/2014/main" id="{95EB2F5B-BA49-4B4B-A6E6-3AA78744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762250"/>
            <a:ext cx="2000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0" name="phase-status-text-1">
            <a:extLst xmlns:a="http://schemas.openxmlformats.org/drawingml/2006/main">
              <a:ext uri="{FF2B5EF4-FFF2-40B4-BE49-F238E27FC236}">
                <a16:creationId xmlns:a16="http://schemas.microsoft.com/office/drawing/2014/main" id="{C64F72FF-5B0F-4C48-9E05-3DAC3E77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0956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Listo</a:t>
            </a:r>
          </a:p>
        </p:txBody>
      </p:sp>
      <p:sp>
        <p:nvSpPr>
          <p:cNvPr id="11" name="phase-name-2">
            <a:extLst xmlns:a="http://schemas.openxmlformats.org/drawingml/2006/main">
              <a:ext uri="{FF2B5EF4-FFF2-40B4-BE49-F238E27FC236}">
                <a16:creationId xmlns:a16="http://schemas.microsoft.com/office/drawing/2014/main" id="{B7BEC0BF-575C-472B-98A2-A6CA9105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1666875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Login real</a:t>
            </a:r>
          </a:p>
        </p:txBody>
      </p:sp>
      <p:sp>
        <p:nvSpPr>
          <p:cNvPr id="12" name="phase-rule-2">
            <a:extLst xmlns:a="http://schemas.openxmlformats.org/drawingml/2006/main">
              <a:ext uri="{FF2B5EF4-FFF2-40B4-BE49-F238E27FC236}">
                <a16:creationId xmlns:a16="http://schemas.microsoft.com/office/drawing/2014/main" id="{E628382A-FC03-494D-B73C-51ABFFD6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333625"/>
            <a:ext cx="2000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BD3"/>
            </a:solidFill>
            <a:prstDash val="solid"/>
          </a:ln>
        </p:spPr>
      </p:sp>
      <p:sp>
        <p:nvSpPr>
          <p:cNvPr id="13" name="phase-status-2">
            <a:extLst xmlns:a="http://schemas.openxmlformats.org/drawingml/2006/main">
              <a:ext uri="{FF2B5EF4-FFF2-40B4-BE49-F238E27FC236}">
                <a16:creationId xmlns:a16="http://schemas.microsoft.com/office/drawing/2014/main" id="{0CD9B1FD-2192-455E-891F-64F1C675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762250"/>
            <a:ext cx="2000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14" name="phase-status-text-2">
            <a:extLst xmlns:a="http://schemas.openxmlformats.org/drawingml/2006/main">
              <a:ext uri="{FF2B5EF4-FFF2-40B4-BE49-F238E27FC236}">
                <a16:creationId xmlns:a16="http://schemas.microsoft.com/office/drawing/2014/main" id="{87BD70D5-32F0-44B2-92C9-9769FC1C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0956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45309"/>
                </a:solidFill>
                <a:latin typeface="Arial"/>
                <a:ea typeface="Arial"/>
                <a:cs typeface="Arial"/>
              </a:rPr>
              <a:t>Pendiente</a:t>
            </a:r>
          </a:p>
        </p:txBody>
      </p:sp>
      <p:sp>
        <p:nvSpPr>
          <p:cNvPr id="15" name="phase-name-3">
            <a:extLst xmlns:a="http://schemas.openxmlformats.org/drawingml/2006/main">
              <a:ext uri="{FF2B5EF4-FFF2-40B4-BE49-F238E27FC236}">
                <a16:creationId xmlns:a16="http://schemas.microsoft.com/office/drawing/2014/main" id="{42AF5C25-F126-40D4-8681-A886C656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1666875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EC2</a:t>
            </a:r>
          </a:p>
        </p:txBody>
      </p:sp>
      <p:sp>
        <p:nvSpPr>
          <p:cNvPr id="16" name="phase-rule-3">
            <a:extLst xmlns:a="http://schemas.openxmlformats.org/drawingml/2006/main">
              <a:ext uri="{FF2B5EF4-FFF2-40B4-BE49-F238E27FC236}">
                <a16:creationId xmlns:a16="http://schemas.microsoft.com/office/drawing/2014/main" id="{F7AFA1EC-082B-4043-8D05-86994284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333625"/>
            <a:ext cx="2000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BD3"/>
            </a:solidFill>
            <a:prstDash val="solid"/>
          </a:ln>
        </p:spPr>
      </p:sp>
      <p:sp>
        <p:nvSpPr>
          <p:cNvPr id="17" name="phase-status-3">
            <a:extLst xmlns:a="http://schemas.openxmlformats.org/drawingml/2006/main">
              <a:ext uri="{FF2B5EF4-FFF2-40B4-BE49-F238E27FC236}">
                <a16:creationId xmlns:a16="http://schemas.microsoft.com/office/drawing/2014/main" id="{4AC2C70E-2418-423A-BB45-454601BA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762250"/>
            <a:ext cx="2000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18" name="phase-status-text-3">
            <a:extLst xmlns:a="http://schemas.openxmlformats.org/drawingml/2006/main">
              <a:ext uri="{FF2B5EF4-FFF2-40B4-BE49-F238E27FC236}">
                <a16:creationId xmlns:a16="http://schemas.microsoft.com/office/drawing/2014/main" id="{F1EEF663-46A4-4A68-AC68-30FB6D3F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0956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45309"/>
                </a:solidFill>
                <a:latin typeface="Arial"/>
                <a:ea typeface="Arial"/>
                <a:cs typeface="Arial"/>
              </a:rPr>
              <a:t>Pendiente</a:t>
            </a:r>
          </a:p>
        </p:txBody>
      </p:sp>
      <p:sp>
        <p:nvSpPr>
          <p:cNvPr id="19" name="phase-name-4">
            <a:extLst xmlns:a="http://schemas.openxmlformats.org/drawingml/2006/main">
              <a:ext uri="{FF2B5EF4-FFF2-40B4-BE49-F238E27FC236}">
                <a16:creationId xmlns:a16="http://schemas.microsoft.com/office/drawing/2014/main" id="{1678CF21-6588-4C20-98E0-3758BC4E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1666875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API Gateway</a:t>
            </a:r>
          </a:p>
        </p:txBody>
      </p:sp>
      <p:sp>
        <p:nvSpPr>
          <p:cNvPr id="20" name="phase-rule-4">
            <a:extLst xmlns:a="http://schemas.openxmlformats.org/drawingml/2006/main">
              <a:ext uri="{FF2B5EF4-FFF2-40B4-BE49-F238E27FC236}">
                <a16:creationId xmlns:a16="http://schemas.microsoft.com/office/drawing/2014/main" id="{F5383C51-8E01-4898-BA7C-745E538F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333625"/>
            <a:ext cx="2000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BD3"/>
            </a:solidFill>
            <a:prstDash val="solid"/>
          </a:ln>
        </p:spPr>
      </p:sp>
      <p:sp>
        <p:nvSpPr>
          <p:cNvPr id="21" name="phase-status-4">
            <a:extLst xmlns:a="http://schemas.openxmlformats.org/drawingml/2006/main">
              <a:ext uri="{FF2B5EF4-FFF2-40B4-BE49-F238E27FC236}">
                <a16:creationId xmlns:a16="http://schemas.microsoft.com/office/drawing/2014/main" id="{1DB2583D-4E90-4087-91B6-7721291D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762250"/>
            <a:ext cx="2000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22" name="phase-status-text-4">
            <a:extLst xmlns:a="http://schemas.openxmlformats.org/drawingml/2006/main">
              <a:ext uri="{FF2B5EF4-FFF2-40B4-BE49-F238E27FC236}">
                <a16:creationId xmlns:a16="http://schemas.microsoft.com/office/drawing/2014/main" id="{7B64A5AF-2E36-4726-9DD0-474DD561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0956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45309"/>
                </a:solidFill>
                <a:latin typeface="Arial"/>
                <a:ea typeface="Arial"/>
                <a:cs typeface="Arial"/>
              </a:rPr>
              <a:t>Pendiente</a:t>
            </a:r>
          </a:p>
        </p:txBody>
      </p:sp>
      <p:sp>
        <p:nvSpPr>
          <p:cNvPr id="23" name="timeline-next">
            <a:extLst xmlns:a="http://schemas.openxmlformats.org/drawingml/2006/main">
              <a:ext uri="{FF2B5EF4-FFF2-40B4-BE49-F238E27FC236}">
                <a16:creationId xmlns:a16="http://schemas.microsoft.com/office/drawing/2014/main" id="{D332AB07-99A1-4A90-82ED-3D6FCCFA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Siguiente decisión: confirmar cuenta/región AWS y habilitar Brave. Solo entonces se generan capturas nuevas y la matriz de Gateway.</a:t>
            </a:r>
          </a:p>
        </p:txBody>
      </p:sp>
    </p:spTree>
    <p:extLst>
      <p:ext uri="{BB962C8B-B14F-4D97-AF65-F5344CB8AC3E}">
        <p14:creationId xmlns:p14="http://schemas.microsoft.com/office/powerpoint/2010/main" val="5317578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label-Cierre-55">
            <a:extLst xmlns:a="http://schemas.openxmlformats.org/drawingml/2006/main">
              <a:ext uri="{FF2B5EF4-FFF2-40B4-BE49-F238E27FC236}">
                <a16:creationId xmlns:a16="http://schemas.microsoft.com/office/drawing/2014/main" id="{402BE387-C532-4D9C-AED1-8C4AC947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CIERRE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076A676E-BF3E-425F-BC2F-942D7EE1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9810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06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Nexo ya tiene una base segura y verificable</a:t>
            </a:r>
          </a:p>
        </p:txBody>
      </p:sp>
      <p:sp>
        <p:nvSpPr>
          <p:cNvPr id="3" name="close-actions">
            <a:extLst xmlns:a="http://schemas.openxmlformats.org/drawingml/2006/main">
              <a:ext uri="{FF2B5EF4-FFF2-40B4-BE49-F238E27FC236}">
                <a16:creationId xmlns:a16="http://schemas.microsoft.com/office/drawing/2014/main" id="{5ACEC73B-43A1-429E-B29C-DC6E3970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0"/>
            <a:ext cx="762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1. Completar login/MFA en Brave</a:t>
            </a:r>
          </a:p>
          <a:p xmlns:a="http://schemas.openxmlformats.org/drawingml/2006/main">
            <a:pPr algn="l">
              <a:defRPr sz="2100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2. Desplegar EC2 + HTTP API Gateway</a:t>
            </a:r>
          </a:p>
          <a:p xmlns:a="http://schemas.openxmlformats.org/drawingml/2006/main">
            <a:pPr algn="l">
              <a:defRPr sz="2100" b="0">
                <a:solidFill>
                  <a:srgbClr val="5B647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477"/>
                </a:solidFill>
                <a:latin typeface="Arial"/>
                <a:ea typeface="Arial"/>
                <a:cs typeface="Arial"/>
              </a:rPr>
              <a:t>3. Capturar 401 / 403 / 200 y abrir PR separados</a:t>
            </a:r>
          </a:p>
        </p:txBody>
      </p:sp>
      <p:sp>
        <p:nvSpPr>
          <p:cNvPr id="4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0D4E0FA9-2241-4E97-A166-3E6BDB46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95750"/>
            <a:ext cx="1476375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</p:sp>
      <p:sp>
        <p:nvSpPr>
          <p:cNvPr id="5" name="close-mark">
            <a:extLst xmlns:a="http://schemas.openxmlformats.org/drawingml/2006/main">
              <a:ext uri="{FF2B5EF4-FFF2-40B4-BE49-F238E27FC236}">
                <a16:creationId xmlns:a16="http://schemas.microsoft.com/office/drawing/2014/main" id="{FDD498C8-B0AF-483F-A46C-7A0EA4D7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305300"/>
            <a:ext cx="1190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0" b="1">
                <a:solidFill>
                  <a:srgbClr val="4F46E5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4F46E5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7290701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2026-09-02T05:14:34.1580000Z</dcterms:created>
  <dcterms:modified xsi:type="dcterms:W3CDTF">2026-09-02T05:14:34.1580000Z</dcterms:modified>
</coreProperties>
</file>