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a8dba3148d4493" /><Relationship Type="http://schemas.openxmlformats.org/officeDocument/2006/relationships/extended-properties" Target="/docProps/app.xml" Id="Rd2c314d5ea644403" /><Relationship Type="http://schemas.openxmlformats.org/officeDocument/2006/relationships/officeDocument" Target="/ppt/presentation.xml" Id="Rf0f7febfdba4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8e94073fbb4348"/>
  </p:sldMasterIdLst>
  <p:notesMasterIdLst>
    <p:notesMasterId xmlns:r="http://schemas.openxmlformats.org/officeDocument/2006/relationships" r:id="R5e06533da9774a24"/>
  </p:notesMasterIdLst>
  <p:sldIdLst>
    <p:sldId xmlns:r="http://schemas.openxmlformats.org/officeDocument/2006/relationships" id="256" r:id="R7fa3d737f8df408a"/>
    <p:sldId xmlns:r="http://schemas.openxmlformats.org/officeDocument/2006/relationships" id="257" r:id="Rc79349c94f5d40c8"/>
    <p:sldId xmlns:r="http://schemas.openxmlformats.org/officeDocument/2006/relationships" id="258" r:id="R5f9c89b0ea9f4f50"/>
    <p:sldId xmlns:r="http://schemas.openxmlformats.org/officeDocument/2006/relationships" id="259" r:id="R138f1035e1484b83"/>
    <p:sldId xmlns:r="http://schemas.openxmlformats.org/officeDocument/2006/relationships" id="260" r:id="R0f4500453a46455b"/>
    <p:sldId xmlns:r="http://schemas.openxmlformats.org/officeDocument/2006/relationships" id="261" r:id="R06938614242a4891"/>
    <p:sldId xmlns:r="http://schemas.openxmlformats.org/officeDocument/2006/relationships" id="262" r:id="R08970fedae6f4aff"/>
    <p:sldId xmlns:r="http://schemas.openxmlformats.org/officeDocument/2006/relationships" id="263" r:id="R2b2e213e92c0489b"/>
    <p:sldId xmlns:r="http://schemas.openxmlformats.org/officeDocument/2006/relationships" id="264" r:id="Ra6490b7ebae7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96e0de4354508" /><Relationship Type="http://schemas.openxmlformats.org/officeDocument/2006/relationships/slideMaster" Target="/ppt/slideMasters/slideMaster1.xml" Id="R068e94073fbb4348" /><Relationship Type="http://schemas.openxmlformats.org/officeDocument/2006/relationships/notesMaster" Target="/ppt/notesMasters/notesMaster1.xml" Id="R5e06533da9774a24" /><Relationship Type="http://schemas.openxmlformats.org/officeDocument/2006/relationships/presProps" Target="/ppt/presProps.xml" Id="R285d1a1fe26a458c" /><Relationship Type="http://schemas.openxmlformats.org/officeDocument/2006/relationships/tableStyles" Target="/ppt/tableStyles.xml" Id="Rc4548298e2414b87" /><Relationship Type="http://schemas.openxmlformats.org/officeDocument/2006/relationships/slide" Target="/ppt/slides/slide1.xml" Id="R7fa3d737f8df408a" /><Relationship Type="http://schemas.openxmlformats.org/officeDocument/2006/relationships/slide" Target="/ppt/slides/slide2.xml" Id="Rc79349c94f5d40c8" /><Relationship Type="http://schemas.openxmlformats.org/officeDocument/2006/relationships/slide" Target="/ppt/slides/slide3.xml" Id="R5f9c89b0ea9f4f50" /><Relationship Type="http://schemas.openxmlformats.org/officeDocument/2006/relationships/slide" Target="/ppt/slides/slide4.xml" Id="R138f1035e1484b83" /><Relationship Type="http://schemas.openxmlformats.org/officeDocument/2006/relationships/slide" Target="/ppt/slides/slide5.xml" Id="R0f4500453a46455b" /><Relationship Type="http://schemas.openxmlformats.org/officeDocument/2006/relationships/slide" Target="/ppt/slides/slide6.xml" Id="R06938614242a4891" /><Relationship Type="http://schemas.openxmlformats.org/officeDocument/2006/relationships/slide" Target="/ppt/slides/slide7.xml" Id="R08970fedae6f4aff" /><Relationship Type="http://schemas.openxmlformats.org/officeDocument/2006/relationships/slide" Target="/ppt/slides/slide8.xml" Id="R2b2e213e92c0489b" /><Relationship Type="http://schemas.openxmlformats.org/officeDocument/2006/relationships/slide" Target="/ppt/slides/slide9.xml" Id="Ra6490b7ebae7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e046adc98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1add42a2404de8" /><Relationship Type="http://schemas.openxmlformats.org/officeDocument/2006/relationships/notesMaster" Target="/ppt/notesMasters/notesMaster1.xml" Id="Rd4e00ca7af5b48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819c2f10a4d5e" /><Relationship Type="http://schemas.openxmlformats.org/officeDocument/2006/relationships/notesMaster" Target="/ppt/notesMasters/notesMaster1.xml" Id="R152153f3efea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43b291cfc490c" /><Relationship Type="http://schemas.openxmlformats.org/officeDocument/2006/relationships/notesMaster" Target="/ppt/notesMasters/notesMaster1.xml" Id="Rd7022a3fec984a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a03332e534332" /><Relationship Type="http://schemas.openxmlformats.org/officeDocument/2006/relationships/notesMaster" Target="/ppt/notesMasters/notesMaster1.xml" Id="R756ddcb0050442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f464c8552145ff" /><Relationship Type="http://schemas.openxmlformats.org/officeDocument/2006/relationships/notesMaster" Target="/ppt/notesMasters/notesMaster1.xml" Id="Rfdf8f98488d7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0087e3db04acf" /><Relationship Type="http://schemas.openxmlformats.org/officeDocument/2006/relationships/notesMaster" Target="/ppt/notesMasters/notesMaster1.xml" Id="R46c146fe6814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7834a4a2d4559" /><Relationship Type="http://schemas.openxmlformats.org/officeDocument/2006/relationships/notesMaster" Target="/ppt/notesMasters/notesMaster1.xml" Id="R8dc61c6fc37f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017bf9c78943de" /><Relationship Type="http://schemas.openxmlformats.org/officeDocument/2006/relationships/notesMaster" Target="/ppt/notesMasters/notesMaster1.xml" Id="R72fae254fac84b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ec1e144f64447b" /><Relationship Type="http://schemas.openxmlformats.org/officeDocument/2006/relationships/notesMaster" Target="/ppt/notesMasters/notesMaster1.xml" Id="Radb864d3b21a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7e61d914e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b1cec4437e4aa8" /><Relationship Type="http://schemas.openxmlformats.org/officeDocument/2006/relationships/slideLayout" Target="/ppt/slideLayouts/slideLayout1.xml" Id="Rd2d031ddcc20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031ddcc20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0fa5f54743b3" /><Relationship Type="http://schemas.openxmlformats.org/officeDocument/2006/relationships/notesSlide" Target="/ppt/notesSlides/notesSlide1.xml" Id="Rc1b35b474532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f5f5dd594f4a" /><Relationship Type="http://schemas.openxmlformats.org/officeDocument/2006/relationships/image" Target="/ppt/media/image.jpeg" Id="Rb5124a52b72c43e9" /><Relationship Type="http://schemas.openxmlformats.org/officeDocument/2006/relationships/notesSlide" Target="/ppt/notesSlides/notesSlide2.xml" Id="Ra65bab3a403f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02635fb154086" /><Relationship Type="http://schemas.openxmlformats.org/officeDocument/2006/relationships/notesSlide" Target="/ppt/notesSlides/notesSlide3.xml" Id="Re1bc11366645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418c104da4d34" /><Relationship Type="http://schemas.openxmlformats.org/officeDocument/2006/relationships/notesSlide" Target="/ppt/notesSlides/notesSlide4.xml" Id="R3b6b6c17a300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df22609a34a56" /><Relationship Type="http://schemas.openxmlformats.org/officeDocument/2006/relationships/notesSlide" Target="/ppt/notesSlides/notesSlide5.xml" Id="Rc2ebc2d9cde4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bfedea3ad4824" /><Relationship Type="http://schemas.openxmlformats.org/officeDocument/2006/relationships/notesSlide" Target="/ppt/notesSlides/notesSlide6.xml" Id="R6860953eb75e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3878d8fdd4b07" /><Relationship Type="http://schemas.openxmlformats.org/officeDocument/2006/relationships/notesSlide" Target="/ppt/notesSlides/notesSlide7.xml" Id="R621eff2bf0f447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cc7d4cb3c42c4" /><Relationship Type="http://schemas.openxmlformats.org/officeDocument/2006/relationships/image" Target="/ppt/media/image2.jpeg" Id="R7604987e31194e5d" /><Relationship Type="http://schemas.openxmlformats.org/officeDocument/2006/relationships/image" Target="/ppt/media/image3.jpeg" Id="R3dbea5b6aef14eea" /><Relationship Type="http://schemas.openxmlformats.org/officeDocument/2006/relationships/image" Target="/ppt/media/image.png" Id="Rc7268e0a6c1441c0" /><Relationship Type="http://schemas.openxmlformats.org/officeDocument/2006/relationships/image" Target="/ppt/media/image4.jpeg" Id="Rf1ab9f623cb1462c" /><Relationship Type="http://schemas.openxmlformats.org/officeDocument/2006/relationships/image" Target="/ppt/media/image5.jpeg" Id="R74d9f049b2314c1d" /><Relationship Type="http://schemas.openxmlformats.org/officeDocument/2006/relationships/image" Target="/ppt/media/image2.png" Id="Ra3bbc3d41b9e4ffe" /><Relationship Type="http://schemas.openxmlformats.org/officeDocument/2006/relationships/notesSlide" Target="/ppt/notesSlides/notesSlide8.xml" Id="R4b634fd5a0d343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3cfcf32374444" /><Relationship Type="http://schemas.openxmlformats.org/officeDocument/2006/relationships/notesSlide" Target="/ppt/notesSlides/notesSlide9.xml" Id="R41643130984f4e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el-DSY1107 · Cloud Native I-56">
            <a:extLst xmlns:a="http://schemas.openxmlformats.org/drawingml/2006/main">
              <a:ext uri="{FF2B5EF4-FFF2-40B4-BE49-F238E27FC236}">
                <a16:creationId xmlns:a16="http://schemas.microsoft.com/office/drawing/2014/main" id="{8ACDF716-DDDA-447D-AC6A-166AC44A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DSY1107 · CLOUD NATIVE 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92438E-3D9C-4B72-9928-717E198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Nexo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6CBA11-A91A-4C28-96C4-A34E2F13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Identidad institucional y autorización JWT, sin abandonar la aplicación FullStack existente.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BA4BBED-263F-4DCB-BE4A-6B1A16A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14400"/>
            <a:ext cx="24765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2DA7B929-B321-4239-AEC2-679AE5B2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B5A1893-A2D0-48D5-9C03-B32AF86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Angular · MSAL · Entra ID</a:t>
            </a:r>
          </a:p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Spring Boot · PostgreSQL</a:t>
            </a:r>
          </a:p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EC2 · API Gateway</a:t>
            </a:r>
          </a:p>
        </p:txBody>
      </p:sp>
    </p:spTree>
    <p:extLst>
      <p:ext uri="{BB962C8B-B14F-4D97-AF65-F5344CB8AC3E}">
        <p14:creationId xmlns:p14="http://schemas.microsoft.com/office/powerpoint/2010/main" val="1319274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C83AA2F-540F-485D-B2FB-44ADC254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integración parte de Nexo, no de una aplicación nueva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E7A112AD-A63A-4E5E-8FC6-07128CAE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label-Funcionalidad seleccionada-54">
            <a:extLst xmlns:a="http://schemas.openxmlformats.org/drawingml/2006/main">
              <a:ext uri="{FF2B5EF4-FFF2-40B4-BE49-F238E27FC236}">
                <a16:creationId xmlns:a16="http://schemas.microsoft.com/office/drawing/2014/main" id="{821DCC5D-E473-47F2-B74F-18ECD13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FUNCIONALIDAD SELECCIONADA</a:t>
            </a:r>
          </a:p>
        </p:txBody>
      </p:sp>
      <p:sp>
        <p:nvSpPr>
          <p:cNvPr id="4" name="selected-feature">
            <a:extLst xmlns:a="http://schemas.openxmlformats.org/drawingml/2006/main">
              <a:ext uri="{FF2B5EF4-FFF2-40B4-BE49-F238E27FC236}">
                <a16:creationId xmlns:a16="http://schemas.microsoft.com/office/drawing/2014/main" id="{10ABC698-856B-43FC-9CDB-7FC013A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Inicio/cierre de sesión y consulta del perfil autenticado.</a:t>
            </a:r>
          </a:p>
        </p:txBody>
      </p:sp>
      <p:sp>
        <p:nvSpPr>
          <p:cNvPr id="5" name="endpoint">
            <a:extLst xmlns:a="http://schemas.openxmlformats.org/drawingml/2006/main">
              <a:ext uri="{FF2B5EF4-FFF2-40B4-BE49-F238E27FC236}">
                <a16:creationId xmlns:a16="http://schemas.microsoft.com/office/drawing/2014/main" id="{9C77B279-502F-47FB-9464-B3E768B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GET /api/users/me</a:t>
            </a:r>
          </a:p>
        </p:txBody>
      </p:sp>
      <p:sp>
        <p:nvSpPr>
          <p:cNvPr id="6" name="endpoint-detail">
            <a:extLst xmlns:a="http://schemas.openxmlformats.org/drawingml/2006/main">
              <a:ext uri="{FF2B5EF4-FFF2-40B4-BE49-F238E27FC236}">
                <a16:creationId xmlns:a16="http://schemas.microsoft.com/office/drawing/2014/main" id="{CC3CF9C0-90DC-4BCA-ADE0-41ECFD94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La ruta sincroniza al usuario en PostgreSQL y exige ROLE_USER local o SCOPE_access_as_user.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24a52b72c43e9"/>
          <a:srcRect xmlns:a="http://schemas.openxmlformats.org/drawingml/2006/main" l="0" t="2627" r="0" b="2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81125"/>
            <a:ext cx="54292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1383800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7EFED2D9-8CC8-4DA2-B424-1BDC9A6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El token se valida en el borde y nuevamente en Spring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7B2B9015-9891-413F-A2CE-468E44E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node-Angular SPA">
            <a:extLst xmlns:a="http://schemas.openxmlformats.org/drawingml/2006/main">
              <a:ext uri="{FF2B5EF4-FFF2-40B4-BE49-F238E27FC236}">
                <a16:creationId xmlns:a16="http://schemas.microsoft.com/office/drawing/2014/main" id="{19EA3DC5-34EE-4C3B-8487-A0F4E21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4" name="node-title-Angular SPA">
            <a:extLst xmlns:a="http://schemas.openxmlformats.org/drawingml/2006/main">
              <a:ext uri="{FF2B5EF4-FFF2-40B4-BE49-F238E27FC236}">
                <a16:creationId xmlns:a16="http://schemas.microsoft.com/office/drawing/2014/main" id="{A1E0A21A-B62F-44AA-AE5F-5B7B2662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Angular SPA</a:t>
            </a:r>
          </a:p>
        </p:txBody>
      </p:sp>
      <p:sp>
        <p:nvSpPr>
          <p:cNvPr id="5" name="node-detail-Angular SPA">
            <a:extLst xmlns:a="http://schemas.openxmlformats.org/drawingml/2006/main">
              <a:ext uri="{FF2B5EF4-FFF2-40B4-BE49-F238E27FC236}">
                <a16:creationId xmlns:a16="http://schemas.microsoft.com/office/drawing/2014/main" id="{939E4973-80B2-4F7C-8BB7-E8F2A1C1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MSAL + PKCE</a:t>
            </a:r>
          </a:p>
        </p:txBody>
      </p:sp>
      <p:sp>
        <p:nvSpPr>
          <p:cNvPr id="6" name="node-Microsoft Entra ID">
            <a:extLst xmlns:a="http://schemas.openxmlformats.org/drawingml/2006/main">
              <a:ext uri="{FF2B5EF4-FFF2-40B4-BE49-F238E27FC236}">
                <a16:creationId xmlns:a16="http://schemas.microsoft.com/office/drawing/2014/main" id="{24362F40-E8CD-4184-B41F-5A4A456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2D7FF9"/>
            </a:solidFill>
            <a:prstDash val="solid"/>
          </a:ln>
        </p:spPr>
      </p:sp>
      <p:sp>
        <p:nvSpPr>
          <p:cNvPr id="7" name="node-title-Microsoft Entra ID">
            <a:extLst xmlns:a="http://schemas.openxmlformats.org/drawingml/2006/main">
              <a:ext uri="{FF2B5EF4-FFF2-40B4-BE49-F238E27FC236}">
                <a16:creationId xmlns:a16="http://schemas.microsoft.com/office/drawing/2014/main" id="{42193130-F9C6-4E30-B1E4-A416D718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Microsoft Entra ID</a:t>
            </a:r>
          </a:p>
        </p:txBody>
      </p:sp>
      <p:sp>
        <p:nvSpPr>
          <p:cNvPr id="8" name="node-detail-Microsoft Entra ID">
            <a:extLst xmlns:a="http://schemas.openxmlformats.org/drawingml/2006/main">
              <a:ext uri="{FF2B5EF4-FFF2-40B4-BE49-F238E27FC236}">
                <a16:creationId xmlns:a16="http://schemas.microsoft.com/office/drawing/2014/main" id="{42BC67F6-19DE-41F4-84C6-BDD1269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Emite access_as_user</a:t>
            </a:r>
          </a:p>
        </p:txBody>
      </p:sp>
      <p:sp>
        <p:nvSpPr>
          <p:cNvPr id="9" name="node-HTTP API Gateway">
            <a:extLst xmlns:a="http://schemas.openxmlformats.org/drawingml/2006/main">
              <a:ext uri="{FF2B5EF4-FFF2-40B4-BE49-F238E27FC236}">
                <a16:creationId xmlns:a16="http://schemas.microsoft.com/office/drawing/2014/main" id="{F8337F76-4309-4D4A-A3AE-C1A72774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node-title-HTTP API Gateway">
            <a:extLst xmlns:a="http://schemas.openxmlformats.org/drawingml/2006/main">
              <a:ext uri="{FF2B5EF4-FFF2-40B4-BE49-F238E27FC236}">
                <a16:creationId xmlns:a16="http://schemas.microsoft.com/office/drawing/2014/main" id="{AEFA5959-968C-48DB-A1BA-E5B9D72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 API Gateway</a:t>
            </a:r>
          </a:p>
        </p:txBody>
      </p:sp>
      <p:sp>
        <p:nvSpPr>
          <p:cNvPr id="11" name="node-detail-HTTP API Gateway">
            <a:extLst xmlns:a="http://schemas.openxmlformats.org/drawingml/2006/main">
              <a:ext uri="{FF2B5EF4-FFF2-40B4-BE49-F238E27FC236}">
                <a16:creationId xmlns:a16="http://schemas.microsoft.com/office/drawing/2014/main" id="{ED133C9A-3E10-44F0-B730-FBA1473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CORS + JWT Authorizer</a:t>
            </a:r>
          </a:p>
        </p:txBody>
      </p:sp>
      <p:sp>
        <p:nvSpPr>
          <p:cNvPr id="12" name="node-Spring Boot en EC2">
            <a:extLst xmlns:a="http://schemas.openxmlformats.org/drawingml/2006/main">
              <a:ext uri="{FF2B5EF4-FFF2-40B4-BE49-F238E27FC236}">
                <a16:creationId xmlns:a16="http://schemas.microsoft.com/office/drawing/2014/main" id="{C1EC8C5D-5796-4505-913A-D6E0C038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3" name="node-title-Spring Boot en EC2">
            <a:extLst xmlns:a="http://schemas.openxmlformats.org/drawingml/2006/main">
              <a:ext uri="{FF2B5EF4-FFF2-40B4-BE49-F238E27FC236}">
                <a16:creationId xmlns:a16="http://schemas.microsoft.com/office/drawing/2014/main" id="{667DDC10-A13D-4115-AD79-EAE2C5A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Spring Boot en EC2</a:t>
            </a:r>
          </a:p>
        </p:txBody>
      </p:sp>
      <p:sp>
        <p:nvSpPr>
          <p:cNvPr id="14" name="node-detail-Spring Boot en EC2">
            <a:extLst xmlns:a="http://schemas.openxmlformats.org/drawingml/2006/main">
              <a:ext uri="{FF2B5EF4-FFF2-40B4-BE49-F238E27FC236}">
                <a16:creationId xmlns:a16="http://schemas.microsoft.com/office/drawing/2014/main" id="{51E54771-6193-4803-975C-F6DFA363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Issuer · audience · firma · exp</a:t>
            </a:r>
          </a:p>
        </p:txBody>
      </p:sp>
      <p:sp>
        <p:nvSpPr>
          <p:cNvPr id="15" name="node-Postgres">
            <a:extLst xmlns:a="http://schemas.openxmlformats.org/drawingml/2006/main">
              <a:ext uri="{FF2B5EF4-FFF2-40B4-BE49-F238E27FC236}">
                <a16:creationId xmlns:a16="http://schemas.microsoft.com/office/drawing/2014/main" id="{C8BD5676-5E2C-4BEC-A4D5-7BBC39A1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6" name="node-title-Postgres">
            <a:extLst xmlns:a="http://schemas.openxmlformats.org/drawingml/2006/main">
              <a:ext uri="{FF2B5EF4-FFF2-40B4-BE49-F238E27FC236}">
                <a16:creationId xmlns:a16="http://schemas.microsoft.com/office/drawing/2014/main" id="{06FE176C-12E0-42E2-8E43-45E66A5D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17" name="node-detail-Postgres">
            <a:extLst xmlns:a="http://schemas.openxmlformats.org/drawingml/2006/main">
              <a:ext uri="{FF2B5EF4-FFF2-40B4-BE49-F238E27FC236}">
                <a16:creationId xmlns:a16="http://schemas.microsoft.com/office/drawing/2014/main" id="{5F37559D-4D01-4098-9515-ED7E421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Perfil; sin contraseña Microsoft</a:t>
            </a:r>
          </a:p>
        </p:txBody>
      </p:sp>
      <p:sp>
        <p:nvSpPr>
          <p:cNvPr id="18" name="arrow-245">
            <a:extLst xmlns:a="http://schemas.openxmlformats.org/drawingml/2006/main">
              <a:ext uri="{FF2B5EF4-FFF2-40B4-BE49-F238E27FC236}">
                <a16:creationId xmlns:a16="http://schemas.microsoft.com/office/drawing/2014/main" id="{2E5A53C8-AF77-4C43-8C63-45B9E1E6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arrow-500">
            <a:extLst xmlns:a="http://schemas.openxmlformats.org/drawingml/2006/main">
              <a:ext uri="{FF2B5EF4-FFF2-40B4-BE49-F238E27FC236}">
                <a16:creationId xmlns:a16="http://schemas.microsoft.com/office/drawing/2014/main" id="{CDA479A9-669A-45A3-A82F-3951EC5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arrow-755">
            <a:extLst xmlns:a="http://schemas.openxmlformats.org/drawingml/2006/main">
              <a:ext uri="{FF2B5EF4-FFF2-40B4-BE49-F238E27FC236}">
                <a16:creationId xmlns:a16="http://schemas.microsoft.com/office/drawing/2014/main" id="{A4948345-CB06-4D8B-816B-BC418F2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arrow-1010">
            <a:extLst xmlns:a="http://schemas.openxmlformats.org/drawingml/2006/main">
              <a:ext uri="{FF2B5EF4-FFF2-40B4-BE49-F238E27FC236}">
                <a16:creationId xmlns:a16="http://schemas.microsoft.com/office/drawing/2014/main" id="{A074FC11-0A04-487C-8BFA-4CC3347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08DC8092-0B4A-4161-801A-13CCA67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Defensa en profundidad: API Gateway filtra antes de llegar a EC2; Spring Security sigue siendo la autoridad final.</a:t>
            </a:r>
          </a:p>
        </p:txBody>
      </p:sp>
    </p:spTree>
    <p:extLst>
      <p:ext uri="{BB962C8B-B14F-4D97-AF65-F5344CB8AC3E}">
        <p14:creationId xmlns:p14="http://schemas.microsoft.com/office/powerpoint/2010/main" val="199380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4">
            <a:extLst xmlns:a="http://schemas.openxmlformats.org/drawingml/2006/main">
              <a:ext uri="{FF2B5EF4-FFF2-40B4-BE49-F238E27FC236}">
                <a16:creationId xmlns:a16="http://schemas.microsoft.com/office/drawing/2014/main" id="{6C245991-B705-4CAE-B29A-07AC0B7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Authorization Code + PKCE evita secretos en Angular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0292351F-5AF0-4101-A51A-40D77A1E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13F4F3E4-3F2F-4BBD-87AB-F2A150D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4" name="step-num-1">
            <a:extLst xmlns:a="http://schemas.openxmlformats.org/drawingml/2006/main">
              <a:ext uri="{FF2B5EF4-FFF2-40B4-BE49-F238E27FC236}">
                <a16:creationId xmlns:a16="http://schemas.microsoft.com/office/drawing/2014/main" id="{8D1875DE-1D99-44A2-936B-A6DD1A5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ep-head-1">
            <a:extLst xmlns:a="http://schemas.openxmlformats.org/drawingml/2006/main">
              <a:ext uri="{FF2B5EF4-FFF2-40B4-BE49-F238E27FC236}">
                <a16:creationId xmlns:a16="http://schemas.microsoft.com/office/drawing/2014/main" id="{A36F3AB2-91B0-47AC-A47F-03C6617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Redirección</a:t>
            </a:r>
          </a:p>
        </p:txBody>
      </p:sp>
      <p:sp>
        <p:nvSpPr>
          <p:cNvPr id="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973CBE9-A0B4-4108-8D8C-AFCCE37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loginRedirect solicita access_as_user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F3B49E4-FBB0-4B36-80D9-E6AB6A8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8" name="step-num-2">
            <a:extLst xmlns:a="http://schemas.openxmlformats.org/drawingml/2006/main">
              <a:ext uri="{FF2B5EF4-FFF2-40B4-BE49-F238E27FC236}">
                <a16:creationId xmlns:a16="http://schemas.microsoft.com/office/drawing/2014/main" id="{15DFE6C1-7434-40C9-A18E-1F9FC42B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tep-head-2">
            <a:extLst xmlns:a="http://schemas.openxmlformats.org/drawingml/2006/main">
              <a:ext uri="{FF2B5EF4-FFF2-40B4-BE49-F238E27FC236}">
                <a16:creationId xmlns:a16="http://schemas.microsoft.com/office/drawing/2014/main" id="{977558E0-1A07-4C46-8133-F5A7DBC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1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2155659-A09B-46BC-B82B-FC45E4C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Entra autentica; usuario completa MFA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58577944-1D74-4702-A85F-9A16B37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2" name="step-num-3">
            <a:extLst xmlns:a="http://schemas.openxmlformats.org/drawingml/2006/main">
              <a:ext uri="{FF2B5EF4-FFF2-40B4-BE49-F238E27FC236}">
                <a16:creationId xmlns:a16="http://schemas.microsoft.com/office/drawing/2014/main" id="{169F5391-C15B-4FBB-8EEF-7660461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7441BF3-81C8-43E7-8348-A401A17B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Callback</a:t>
            </a:r>
          </a:p>
        </p:txBody>
      </p:sp>
      <p:sp>
        <p:nvSpPr>
          <p:cNvPr id="1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EE1BC39D-14AF-4C67-9DBA-FD57858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Procesa retorno y fija la cuenta activa</a:t>
            </a:r>
          </a:p>
        </p:txBody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28606F16-441A-4057-9D0A-1803182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6" name="step-num-4">
            <a:extLst xmlns:a="http://schemas.openxmlformats.org/drawingml/2006/main">
              <a:ext uri="{FF2B5EF4-FFF2-40B4-BE49-F238E27FC236}">
                <a16:creationId xmlns:a16="http://schemas.microsoft.com/office/drawing/2014/main" id="{55C07D02-8F0A-4BFD-A81A-B2C74F6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ep-head-4">
            <a:extLst xmlns:a="http://schemas.openxmlformats.org/drawingml/2006/main">
              <a:ext uri="{FF2B5EF4-FFF2-40B4-BE49-F238E27FC236}">
                <a16:creationId xmlns:a16="http://schemas.microsoft.com/office/drawing/2014/main" id="{9117AD2A-98C4-4A67-B155-CD98B384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18" name="step-body-4">
            <a:extLst xmlns:a="http://schemas.openxmlformats.org/drawingml/2006/main">
              <a:ext uri="{FF2B5EF4-FFF2-40B4-BE49-F238E27FC236}">
                <a16:creationId xmlns:a16="http://schemas.microsoft.com/office/drawing/2014/main" id="{104EC0B0-2057-406A-89F8-FB6243F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acquireTokenSilent obtiene Access Token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F4B32E19-B07B-4C01-A84A-C82707E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20" name="step-num-5">
            <a:extLst xmlns:a="http://schemas.openxmlformats.org/drawingml/2006/main">
              <a:ext uri="{FF2B5EF4-FFF2-40B4-BE49-F238E27FC236}">
                <a16:creationId xmlns:a16="http://schemas.microsoft.com/office/drawing/2014/main" id="{9EFB70DD-7907-4768-ABC0-90180044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step-head-5">
            <a:extLst xmlns:a="http://schemas.openxmlformats.org/drawingml/2006/main">
              <a:ext uri="{FF2B5EF4-FFF2-40B4-BE49-F238E27FC236}">
                <a16:creationId xmlns:a16="http://schemas.microsoft.com/office/drawing/2014/main" id="{D0522157-6355-48FE-8329-A6BB5510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2" name="step-body-5">
            <a:extLst xmlns:a="http://schemas.openxmlformats.org/drawingml/2006/main">
              <a:ext uri="{FF2B5EF4-FFF2-40B4-BE49-F238E27FC236}">
                <a16:creationId xmlns:a16="http://schemas.microsoft.com/office/drawing/2014/main" id="{8C9B3703-ACF6-466C-A0CD-D91D817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Interceptor agrega Bearer a /api</a:t>
            </a:r>
          </a:p>
        </p:txBody>
      </p:sp>
      <p:sp>
        <p:nvSpPr>
          <p:cNvPr id="23" name="pkce-note">
            <a:extLst xmlns:a="http://schemas.openxmlformats.org/drawingml/2006/main">
              <a:ext uri="{FF2B5EF4-FFF2-40B4-BE49-F238E27FC236}">
                <a16:creationId xmlns:a16="http://schemas.microsoft.com/office/drawing/2014/main" id="{E2912D32-0BCB-46E1-8071-0FDAE2A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El Client ID y el scope son públicos. Angular nunca almacena un Client Secret.</a:t>
            </a:r>
          </a:p>
        </p:txBody>
      </p:sp>
    </p:spTree>
    <p:extLst>
      <p:ext uri="{BB962C8B-B14F-4D97-AF65-F5344CB8AC3E}">
        <p14:creationId xmlns:p14="http://schemas.microsoft.com/office/powerpoint/2010/main" val="1739230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43EAB648-2C5D-4AA5-A292-748F6B8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autorización distingue identidad, sesión y permiso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326963E3-DD43-4920-ADAC-34C7981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point-head-0">
            <a:extLst xmlns:a="http://schemas.openxmlformats.org/drawingml/2006/main">
              <a:ext uri="{FF2B5EF4-FFF2-40B4-BE49-F238E27FC236}">
                <a16:creationId xmlns:a16="http://schemas.microsoft.com/office/drawing/2014/main" id="{5875C1BF-6121-4229-A1BC-B380B2A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Rutas Angular</a:t>
            </a:r>
          </a:p>
        </p:txBody>
      </p:sp>
      <p:sp>
        <p:nvSpPr>
          <p:cNvPr id="4" name="point-body-0">
            <a:extLst xmlns:a="http://schemas.openxmlformats.org/drawingml/2006/main">
              <a:ext uri="{FF2B5EF4-FFF2-40B4-BE49-F238E27FC236}">
                <a16:creationId xmlns:a16="http://schemas.microsoft.com/office/drawing/2014/main" id="{E3BA1550-3506-4663-8DE0-763C2AB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/login pública; /home y /profile protegidas.</a:t>
            </a:r>
          </a:p>
        </p:txBody>
      </p:sp>
      <p:sp>
        <p:nvSpPr>
          <p:cNvPr id="5" name="point-head-1">
            <a:extLst xmlns:a="http://schemas.openxmlformats.org/drawingml/2006/main">
              <a:ext uri="{FF2B5EF4-FFF2-40B4-BE49-F238E27FC236}">
                <a16:creationId xmlns:a16="http://schemas.microsoft.com/office/drawing/2014/main" id="{56E8B2B9-BE72-47F6-843C-1A7FE27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Sesiones separadas</a:t>
            </a:r>
          </a:p>
        </p:txBody>
      </p:sp>
      <p:sp>
        <p:nvSpPr>
          <p:cNvPr id="6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0DA5914C-EC40-48A3-A4C4-A06D85D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demo, local y Microsoft no comparten credenciales.</a:t>
            </a:r>
          </a:p>
        </p:txBody>
      </p:sp>
      <p:sp>
        <p:nvSpPr>
          <p:cNvPr id="7" name="point-head-2">
            <a:extLst xmlns:a="http://schemas.openxmlformats.org/drawingml/2006/main">
              <a:ext uri="{FF2B5EF4-FFF2-40B4-BE49-F238E27FC236}">
                <a16:creationId xmlns:a16="http://schemas.microsoft.com/office/drawing/2014/main" id="{18BC2C76-89B5-4C54-95CC-28CC0D5B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Scopes y roles</a:t>
            </a:r>
          </a:p>
        </p:txBody>
      </p:sp>
      <p:sp>
        <p:nvSpPr>
          <p:cNvPr id="8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2797C4D2-ED7D-4D5C-A88B-BE35B4B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scp/scope → SCOPE_*; roles → ROLE_*.</a:t>
            </a:r>
          </a:p>
        </p:txBody>
      </p:sp>
      <p:sp>
        <p:nvSpPr>
          <p:cNvPr id="9" name="point-head-3">
            <a:extLst xmlns:a="http://schemas.openxmlformats.org/drawingml/2006/main">
              <a:ext uri="{FF2B5EF4-FFF2-40B4-BE49-F238E27FC236}">
                <a16:creationId xmlns:a16="http://schemas.microsoft.com/office/drawing/2014/main" id="{3054BE6E-8ECB-4C74-AC03-C38B167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Persistencia segura</a:t>
            </a:r>
          </a:p>
        </p:txBody>
      </p:sp>
      <p:sp>
        <p:nvSpPr>
          <p:cNvPr id="10" name="point-body-3">
            <a:extLst xmlns:a="http://schemas.openxmlformats.org/drawingml/2006/main">
              <a:ext uri="{FF2B5EF4-FFF2-40B4-BE49-F238E27FC236}">
                <a16:creationId xmlns:a16="http://schemas.microsoft.com/office/drawing/2014/main" id="{9E6BBA8A-CA54-48AC-8106-5B1A229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43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oid identifica al usuario; password_hash queda NULL.</a:t>
            </a:r>
          </a:p>
        </p:txBody>
      </p:sp>
    </p:spTree>
    <p:extLst>
      <p:ext uri="{BB962C8B-B14F-4D97-AF65-F5344CB8AC3E}">
        <p14:creationId xmlns:p14="http://schemas.microsoft.com/office/powerpoint/2010/main" val="1171814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F6DD67E4-F514-48F0-8B67-0AAD48F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Las pruebas locales ya cubren la matriz 401 / 403 / 200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9C41B1C6-DE40-47D4-BE54-DB41722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evidence-explainer">
            <a:extLst xmlns:a="http://schemas.openxmlformats.org/drawingml/2006/main">
              <a:ext uri="{FF2B5EF4-FFF2-40B4-BE49-F238E27FC236}">
                <a16:creationId xmlns:a16="http://schemas.microsoft.com/office/drawing/2014/main" id="{B71D9232-2F81-4F37-A0AF-3EAF77C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Resultados repetibles sin exponer tokens completos. Falta repetirlos con un token Microsoft real y después en API Gateway.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C08D96E8-B605-4212-B62B-6668F8C9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5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20E282BD-D7BA-4EE0-8EC2-C2B09F9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76/76</a:t>
            </a:r>
          </a:p>
        </p:txBody>
      </p:sp>
      <p:sp>
        <p:nvSpPr>
          <p:cNvPr id="6" name="metric-head-0">
            <a:extLst xmlns:a="http://schemas.openxmlformats.org/drawingml/2006/main">
              <a:ext uri="{FF2B5EF4-FFF2-40B4-BE49-F238E27FC236}">
                <a16:creationId xmlns:a16="http://schemas.microsoft.com/office/drawing/2014/main" id="{AFAFAB53-A32A-41B2-B1CE-C71DF8F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C905F5BA-D1C0-4E20-B8C6-F01FD706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22 archivos aprobados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9A220B5F-FF26-47F4-9439-1C89C05B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EE059FB2-58F9-4C64-B0D5-A7ED3805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42/42</a:t>
            </a:r>
          </a:p>
        </p:txBody>
      </p:sp>
      <p:sp>
        <p:nvSpPr>
          <p:cNvPr id="10" name="metric-head-1">
            <a:extLst xmlns:a="http://schemas.openxmlformats.org/drawingml/2006/main">
              <a:ext uri="{FF2B5EF4-FFF2-40B4-BE49-F238E27FC236}">
                <a16:creationId xmlns:a16="http://schemas.microsoft.com/office/drawing/2014/main" id="{AFADE0E9-0A2F-4A39-BA46-544FFC92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094B8E90-5C96-4BDE-AA8B-DA502199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Testcontainers + JWT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4C3BAEE0-A8F0-4145-8109-3A10565F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3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34DA95CC-23BC-4AC9-98CD-7DC40FA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401·403·200</a:t>
            </a:r>
          </a:p>
        </p:txBody>
      </p:sp>
      <p:sp>
        <p:nvSpPr>
          <p:cNvPr id="14" name="metric-head-2">
            <a:extLst xmlns:a="http://schemas.openxmlformats.org/drawingml/2006/main">
              <a:ext uri="{FF2B5EF4-FFF2-40B4-BE49-F238E27FC236}">
                <a16:creationId xmlns:a16="http://schemas.microsoft.com/office/drawing/2014/main" id="{5FC4C964-BCCB-490F-8B09-043CA48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5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BEA89BBE-DB19-4F0E-B8AE-8FB21605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Casos automatizados</a:t>
            </a:r>
          </a:p>
        </p:txBody>
      </p:sp>
    </p:spTree>
    <p:extLst>
      <p:ext uri="{BB962C8B-B14F-4D97-AF65-F5344CB8AC3E}">
        <p14:creationId xmlns:p14="http://schemas.microsoft.com/office/powerpoint/2010/main" val="940592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7">
            <a:extLst xmlns:a="http://schemas.openxmlformats.org/drawingml/2006/main">
              <a:ext uri="{FF2B5EF4-FFF2-40B4-BE49-F238E27FC236}">
                <a16:creationId xmlns:a16="http://schemas.microsoft.com/office/drawing/2014/main" id="{F4BEA547-9F43-4490-A905-5FF9C64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base local está lista; la nube aún requiere autorización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294610BF-A3B8-4BD4-968E-77E49E0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phase-name-0">
            <a:extLst xmlns:a="http://schemas.openxmlformats.org/drawingml/2006/main">
              <a:ext uri="{FF2B5EF4-FFF2-40B4-BE49-F238E27FC236}">
                <a16:creationId xmlns:a16="http://schemas.microsoft.com/office/drawing/2014/main" id="{472D7157-976F-4A96-8955-18774B17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Diagnóstico</a:t>
            </a:r>
          </a:p>
        </p:txBody>
      </p:sp>
      <p:sp>
        <p:nvSpPr>
          <p:cNvPr id="4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9D530E8A-2F47-4914-8275-788087D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5" name="phase-status-0">
            <a:extLst xmlns:a="http://schemas.openxmlformats.org/drawingml/2006/main">
              <a:ext uri="{FF2B5EF4-FFF2-40B4-BE49-F238E27FC236}">
                <a16:creationId xmlns:a16="http://schemas.microsoft.com/office/drawing/2014/main" id="{95D8D863-2EFA-49AC-8744-679E460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phase-status-text-0">
            <a:extLst xmlns:a="http://schemas.openxmlformats.org/drawingml/2006/main">
              <a:ext uri="{FF2B5EF4-FFF2-40B4-BE49-F238E27FC236}">
                <a16:creationId xmlns:a16="http://schemas.microsoft.com/office/drawing/2014/main" id="{413231D8-6432-4BFE-ADF1-16FFFA7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7" name="phase-name-1">
            <a:extLst xmlns:a="http://schemas.openxmlformats.org/drawingml/2006/main">
              <a:ext uri="{FF2B5EF4-FFF2-40B4-BE49-F238E27FC236}">
                <a16:creationId xmlns:a16="http://schemas.microsoft.com/office/drawing/2014/main" id="{1EDEBF08-4BE8-43AD-919C-928D3ECD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MSAL / Spring</a:t>
            </a:r>
          </a:p>
        </p:txBody>
      </p:sp>
      <p:sp>
        <p:nvSpPr>
          <p:cNvPr id="8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427C3D90-1EAC-43DC-9088-5512E91C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9" name="phase-status-1">
            <a:extLst xmlns:a="http://schemas.openxmlformats.org/drawingml/2006/main">
              <a:ext uri="{FF2B5EF4-FFF2-40B4-BE49-F238E27FC236}">
                <a16:creationId xmlns:a16="http://schemas.microsoft.com/office/drawing/2014/main" id="{F4880D3A-D04F-4520-9297-BD0004D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phase-status-text-1">
            <a:extLst xmlns:a="http://schemas.openxmlformats.org/drawingml/2006/main">
              <a:ext uri="{FF2B5EF4-FFF2-40B4-BE49-F238E27FC236}">
                <a16:creationId xmlns:a16="http://schemas.microsoft.com/office/drawing/2014/main" id="{1BA427DF-90E0-43C0-8F21-3DF3EB0B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11" name="phase-name-2">
            <a:extLst xmlns:a="http://schemas.openxmlformats.org/drawingml/2006/main">
              <a:ext uri="{FF2B5EF4-FFF2-40B4-BE49-F238E27FC236}">
                <a16:creationId xmlns:a16="http://schemas.microsoft.com/office/drawing/2014/main" id="{68425FED-4965-48A8-BBBF-B0A2FEE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Login real</a:t>
            </a:r>
          </a:p>
        </p:txBody>
      </p:sp>
      <p:sp>
        <p:nvSpPr>
          <p:cNvPr id="12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612439B6-4693-419B-95C9-81D5614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3" name="phase-status-2">
            <a:extLst xmlns:a="http://schemas.openxmlformats.org/drawingml/2006/main">
              <a:ext uri="{FF2B5EF4-FFF2-40B4-BE49-F238E27FC236}">
                <a16:creationId xmlns:a16="http://schemas.microsoft.com/office/drawing/2014/main" id="{AE13E282-39B5-481F-AB4A-DD23D6D0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4" name="phase-status-text-2">
            <a:extLst xmlns:a="http://schemas.openxmlformats.org/drawingml/2006/main">
              <a:ext uri="{FF2B5EF4-FFF2-40B4-BE49-F238E27FC236}">
                <a16:creationId xmlns:a16="http://schemas.microsoft.com/office/drawing/2014/main" id="{913C534C-47DB-4A73-998C-8D7CF89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15" name="phase-name-3">
            <a:extLst xmlns:a="http://schemas.openxmlformats.org/drawingml/2006/main">
              <a:ext uri="{FF2B5EF4-FFF2-40B4-BE49-F238E27FC236}">
                <a16:creationId xmlns:a16="http://schemas.microsoft.com/office/drawing/2014/main" id="{22E466A3-F409-4C19-B703-1734602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EC2</a:t>
            </a:r>
          </a:p>
        </p:txBody>
      </p:sp>
      <p:sp>
        <p:nvSpPr>
          <p:cNvPr id="16" name="phase-rule-3">
            <a:extLst xmlns:a="http://schemas.openxmlformats.org/drawingml/2006/main">
              <a:ext uri="{FF2B5EF4-FFF2-40B4-BE49-F238E27FC236}">
                <a16:creationId xmlns:a16="http://schemas.microsoft.com/office/drawing/2014/main" id="{628A4B5C-470B-4AB6-AF7A-952549C8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7" name="phase-status-3">
            <a:extLst xmlns:a="http://schemas.openxmlformats.org/drawingml/2006/main">
              <a:ext uri="{FF2B5EF4-FFF2-40B4-BE49-F238E27FC236}">
                <a16:creationId xmlns:a16="http://schemas.microsoft.com/office/drawing/2014/main" id="{9239E806-6917-479B-9C05-933F4DD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8" name="phase-status-text-3">
            <a:extLst xmlns:a="http://schemas.openxmlformats.org/drawingml/2006/main">
              <a:ext uri="{FF2B5EF4-FFF2-40B4-BE49-F238E27FC236}">
                <a16:creationId xmlns:a16="http://schemas.microsoft.com/office/drawing/2014/main" id="{21B082F4-31D4-4A75-A6B1-6D6C0E1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19" name="phase-name-4">
            <a:extLst xmlns:a="http://schemas.openxmlformats.org/drawingml/2006/main">
              <a:ext uri="{FF2B5EF4-FFF2-40B4-BE49-F238E27FC236}">
                <a16:creationId xmlns:a16="http://schemas.microsoft.com/office/drawing/2014/main" id="{05293439-824B-4C8F-9557-564968B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20" name="phase-rule-4">
            <a:extLst xmlns:a="http://schemas.openxmlformats.org/drawingml/2006/main">
              <a:ext uri="{FF2B5EF4-FFF2-40B4-BE49-F238E27FC236}">
                <a16:creationId xmlns:a16="http://schemas.microsoft.com/office/drawing/2014/main" id="{4196D89C-51E9-4030-A888-A1642DD8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21" name="phase-status-4">
            <a:extLst xmlns:a="http://schemas.openxmlformats.org/drawingml/2006/main">
              <a:ext uri="{FF2B5EF4-FFF2-40B4-BE49-F238E27FC236}">
                <a16:creationId xmlns:a16="http://schemas.microsoft.com/office/drawing/2014/main" id="{85F33EA6-FE3D-41D3-A4D0-F0F15B0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2" name="phase-status-text-4">
            <a:extLst xmlns:a="http://schemas.openxmlformats.org/drawingml/2006/main">
              <a:ext uri="{FF2B5EF4-FFF2-40B4-BE49-F238E27FC236}">
                <a16:creationId xmlns:a16="http://schemas.microsoft.com/office/drawing/2014/main" id="{CF79707D-4EAF-4BFF-BFC5-F748504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23" name="timeline-next">
            <a:extLst xmlns:a="http://schemas.openxmlformats.org/drawingml/2006/main">
              <a:ext uri="{FF2B5EF4-FFF2-40B4-BE49-F238E27FC236}">
                <a16:creationId xmlns:a16="http://schemas.microsoft.com/office/drawing/2014/main" id="{443E53BA-A492-40B2-AAC3-BBE31495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Siguiente decisión: completar HTTP API Gateway y repetir la matriz 401 / 403 / 200 en la nube.</a:t>
            </a:r>
          </a:p>
        </p:txBody>
      </p:sp>
    </p:spTree>
    <p:extLst>
      <p:ext uri="{BB962C8B-B14F-4D97-AF65-F5344CB8AC3E}">
        <p14:creationId xmlns:p14="http://schemas.microsoft.com/office/powerpoint/2010/main" val="1668703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DB45DD3D-1D72-4920-874F-0454ECB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Evidencia visual para la rúbrica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B1F0E76C-4C53-410E-9DEF-1BEA9349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label-Capturas preparadas para la demo-54">
            <a:extLst xmlns:a="http://schemas.openxmlformats.org/drawingml/2006/main">
              <a:ext uri="{FF2B5EF4-FFF2-40B4-BE49-F238E27FC236}">
                <a16:creationId xmlns:a16="http://schemas.microsoft.com/office/drawing/2014/main" id="{5AF4AC34-DF12-4434-8008-A49A2824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CAPTURAS PREPARADAS PARA LA DEMO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4987e31194e5d"/>
          <a:stretch xmlns:a="http://schemas.openxmlformats.org/drawingml/2006/main"/>
        </p:blipFill>
        <p:spPr>
          <a:xfrm xmlns:a="http://schemas.openxmlformats.org/drawingml/2006/main">
            <a:off x="523875" y="2233871"/>
            <a:ext cx="3333750" cy="818632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ea5b6aef14eea"/>
          <a:stretch xmlns:a="http://schemas.openxmlformats.org/drawingml/2006/main"/>
        </p:blipFill>
        <p:spPr>
          <a:xfrm xmlns:a="http://schemas.openxmlformats.org/drawingml/2006/main">
            <a:off x="5316545" y="1762125"/>
            <a:ext cx="1558910" cy="1762125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68e0a6c1441c0"/>
          <a:stretch xmlns:a="http://schemas.openxmlformats.org/drawingml/2006/main"/>
        </p:blipFill>
        <p:spPr>
          <a:xfrm xmlns:a="http://schemas.openxmlformats.org/drawingml/2006/main">
            <a:off x="8591550" y="1762125"/>
            <a:ext cx="2819400" cy="1762125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b9f623cb1462c"/>
          <a:stretch xmlns:a="http://schemas.openxmlformats.org/drawingml/2006/main"/>
        </p:blipFill>
        <p:spPr>
          <a:xfrm xmlns:a="http://schemas.openxmlformats.org/drawingml/2006/main">
            <a:off x="523875" y="4098073"/>
            <a:ext cx="3333750" cy="1138354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9f049b2314c1d"/>
          <a:stretch xmlns:a="http://schemas.openxmlformats.org/drawingml/2006/main"/>
        </p:blipFill>
        <p:spPr>
          <a:xfrm xmlns:a="http://schemas.openxmlformats.org/drawingml/2006/main">
            <a:off x="4762035" y="4095750"/>
            <a:ext cx="2667929" cy="11430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bc3d41b9e4ffe"/>
          <a:stretch xmlns:a="http://schemas.openxmlformats.org/drawingml/2006/main"/>
        </p:blipFill>
        <p:spPr>
          <a:xfrm xmlns:a="http://schemas.openxmlformats.org/drawingml/2006/main">
            <a:off x="8869964" y="4095750"/>
            <a:ext cx="2262573" cy="11430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10" name="evidence-captions">
            <a:extLst xmlns:a="http://schemas.openxmlformats.org/drawingml/2006/main">
              <a:ext uri="{FF2B5EF4-FFF2-40B4-BE49-F238E27FC236}">
                <a16:creationId xmlns:a16="http://schemas.microsoft.com/office/drawing/2014/main" id="{62AA34C0-2E0B-4E47-88D3-8697C69C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Azure · MSAL · EC2/RDS · permisos JWT · transmisión</a:t>
            </a:r>
          </a:p>
        </p:txBody>
      </p:sp>
    </p:spTree>
    <p:extLst>
      <p:ext uri="{BB962C8B-B14F-4D97-AF65-F5344CB8AC3E}">
        <p14:creationId xmlns:p14="http://schemas.microsoft.com/office/powerpoint/2010/main" val="1424294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Cierre-55">
            <a:extLst xmlns:a="http://schemas.openxmlformats.org/drawingml/2006/main">
              <a:ext uri="{FF2B5EF4-FFF2-40B4-BE49-F238E27FC236}">
                <a16:creationId xmlns:a16="http://schemas.microsoft.com/office/drawing/2014/main" id="{9EFC5877-8D51-47B2-92AE-258408F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DA814FC-962E-4CB1-B366-DCCDE22B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9810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Nexo ya tiene una base segura y verificable</a:t>
            </a:r>
          </a:p>
        </p:txBody>
      </p:sp>
      <p:sp>
        <p:nvSpPr>
          <p:cNvPr id="3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B66624D3-CC66-4DBD-ADC6-1A2ED810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1. Completar login/MFA en Brave</a:t>
            </a:r>
          </a:p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2. Desplegar EC2 + HTTP API Gateway</a:t>
            </a:r>
          </a:p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3. Capturar 401 / 403 / 200 y abrir PR separados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25F95FEE-7C0E-41E5-8096-C63997C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763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close-mark">
            <a:extLst xmlns:a="http://schemas.openxmlformats.org/drawingml/2006/main">
              <a:ext uri="{FF2B5EF4-FFF2-40B4-BE49-F238E27FC236}">
                <a16:creationId xmlns:a16="http://schemas.microsoft.com/office/drawing/2014/main" id="{28D33282-C10C-4F6E-BDB6-BEF5E50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05300"/>
            <a:ext cx="119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541887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2026-09-11T05:15:58.9530000Z</dcterms:created>
  <dcterms:modified xsi:type="dcterms:W3CDTF">2026-09-11T05:15:58.9530000Z</dcterms:modified>
</coreProperties>
</file>